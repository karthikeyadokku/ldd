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notesSlides/_rels/notesSlide13.xml.rels" ContentType="application/vnd.openxmlformats-package.relationships+xml"/>
  <Override PartName="/ppt/notesSlides/_rels/notesSlide9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4.xml.rels" ContentType="application/vnd.openxmlformats-package.relationships+xml"/>
  <Override PartName="/ppt/notesSlides/_rels/notesSlide7.xml.rels" ContentType="application/vnd.openxmlformats-package.relationships+xml"/>
  <Override PartName="/ppt/notesSlides/_rels/notesSlide1.xml.rels" ContentType="application/vnd.openxmlformats-package.relationships+xml"/>
  <Override PartName="/ppt/notesSlides/_rels/notesSlide10.xml.rels" ContentType="application/vnd.openxmlformats-package.relationships+xml"/>
  <Override PartName="/ppt/notesSlides/_rels/notesSlide3.xml.rels" ContentType="application/vnd.openxmlformats-package.relationships+xml"/>
  <Override PartName="/ppt/notesSlides/_rels/notesSlide5.xml.rels" ContentType="application/vnd.openxmlformats-package.relationships+xml"/>
  <Override PartName="/ppt/notesSlides/_rels/notesSlide12.xml.rels" ContentType="application/vnd.openxmlformats-package.relationships+xml"/>
  <Override PartName="/ppt/notesSlides/_rels/notesSlide2.xml.rels" ContentType="application/vnd.openxmlformats-package.relationships+xml"/>
  <Override PartName="/ppt/notesSlides/_rels/notesSlide11.xml.rels" ContentType="application/vnd.openxmlformats-package.relationships+xml"/>
  <Override PartName="/ppt/notesSlides/_rels/notesSlide4.xml.rels" ContentType="application/vnd.openxmlformats-package.relationships+xml"/>
  <Override PartName="/ppt/notesSlides/_rels/notesSlide6.xml.rels" ContentType="application/vnd.openxmlformats-package.relationships+xml"/>
  <Override PartName="/ppt/notesSlides/_rels/notesSlide15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13.xml" ContentType="application/vnd.openxmlformats-officedocument.presentationml.notesSlid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media/image9.png" ContentType="image/png"/>
  <Override PartName="/ppt/media/image13.png" ContentType="image/png"/>
  <Override PartName="/ppt/media/image8.png" ContentType="image/png"/>
  <Override PartName="/ppt/media/image12.png" ContentType="image/png"/>
  <Override PartName="/ppt/media/image7.png" ContentType="image/png"/>
  <Override PartName="/ppt/media/image11.png" ContentType="image/png"/>
  <Override PartName="/ppt/media/image6.png" ContentType="image/png"/>
  <Override PartName="/ppt/media/image10.png" ContentType="image/png"/>
  <Override PartName="/ppt/media/image5.png" ContentType="image/png"/>
  <Override PartName="/ppt/media/image28.png" ContentType="image/png"/>
  <Override PartName="/ppt/media/image4.png" ContentType="image/png"/>
  <Override PartName="/ppt/media/image27.png" ContentType="image/png"/>
  <Override PartName="/ppt/media/image3.png" ContentType="image/png"/>
  <Override PartName="/ppt/media/image26.png" ContentType="image/png"/>
  <Override PartName="/ppt/media/image23.png" ContentType="image/png"/>
  <Override PartName="/ppt/media/image22.png" ContentType="image/png"/>
  <Override PartName="/ppt/media/image21.png" ContentType="image/png"/>
  <Override PartName="/ppt/media/image19.png" ContentType="image/png"/>
  <Override PartName="/ppt/media/image20.png" ContentType="image/png"/>
  <Override PartName="/ppt/media/image18.png" ContentType="image/png"/>
  <Override PartName="/ppt/media/image17.png" ContentType="image/png"/>
  <Override PartName="/ppt/media/image16.png" ContentType="image/png"/>
  <Override PartName="/ppt/media/image15.png" ContentType="image/png"/>
  <Override PartName="/ppt/media/image14.png" ContentType="image/png"/>
  <Override PartName="/ppt/media/image1.png" ContentType="image/png"/>
  <Override PartName="/ppt/media/image24.png" ContentType="image/png"/>
  <Override PartName="/ppt/media/image2.png" ContentType="image/png"/>
  <Override PartName="/ppt/media/image25.png" ContentType="image/png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_rels/slide8.xml.rels" ContentType="application/vnd.openxmlformats-package.relationships+xml"/>
  <Override PartName="/ppt/slides/_rels/slide9.xml.rels" ContentType="application/vnd.openxmlformats-package.relationships+xml"/>
  <Override PartName="/ppt/slides/_rels/slide13.xml.rels" ContentType="application/vnd.openxmlformats-package.relationships+xml"/>
  <Override PartName="/ppt/slides/_rels/slide12.xml.rels" ContentType="application/vnd.openxmlformats-package.relationships+xml"/>
  <Override PartName="/ppt/slides/_rels/slide15.xml.rels" ContentType="application/vnd.openxmlformats-package.relationships+xml"/>
  <Override PartName="/ppt/slides/_rels/slide14.xml.rels" ContentType="application/vnd.openxmlformats-package.relationships+xml"/>
  <Override PartName="/ppt/slides/_rels/slide11.xml.rels" ContentType="application/vnd.openxmlformats-package.relationships+xml"/>
  <Override PartName="/ppt/slides/_rels/slide1.xml.rels" ContentType="application/vnd.openxmlformats-package.relationships+xml"/>
  <Override PartName="/ppt/slides/_rels/slide4.xml.rels" ContentType="application/vnd.openxmlformats-package.relationships+xml"/>
  <Override PartName="/ppt/slides/_rels/slide2.xml.rels" ContentType="application/vnd.openxmlformats-package.relationships+xml"/>
  <Override PartName="/ppt/slides/_rels/slide5.xml.rels" ContentType="application/vnd.openxmlformats-package.relationships+xml"/>
  <Override PartName="/ppt/slides/_rels/slide3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10.xml.rels" ContentType="application/vnd.openxmlformats-package.relationships+xml"/>
  <Override PartName="/ppt/slides/slide13.xml" ContentType="application/vnd.openxmlformats-officedocument.presentationml.slide+xml"/>
  <Override PartName="/ppt/slides/slide15.xml" ContentType="application/vnd.openxmlformats-officedocument.presentationml.slide+xml"/>
  <Override PartName="/ppt/slides/slide14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Click to move the slide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2000" spc="-1" strike="noStrike">
                <a:latin typeface="Arial"/>
              </a:rPr>
              <a:t>Click to edit the notes format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en-IN" sz="1400" spc="-1" strike="noStrike">
                <a:latin typeface="Times New Roman"/>
              </a:rPr>
              <a:t>&lt;header&gt;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en-IN" sz="1400" spc="-1" strike="noStrike">
                <a:latin typeface="Times New Roman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en-IN" sz="1400" spc="-1" strike="noStrike">
                <a:latin typeface="Times New Roman"/>
              </a:defRPr>
            </a:lvl1pPr>
          </a:lstStyle>
          <a:p>
            <a:r>
              <a:rPr b="0" lang="en-IN" sz="1400" spc="-1" strike="noStrike">
                <a:latin typeface="Times New Roman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en-IN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F542E17B-F444-4865-AC38-7A7FAC0765EF}" type="slidenum">
              <a:rPr b="0" lang="en-IN" sz="1400" spc="-1" strike="noStrike">
                <a:latin typeface="Times New Roman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
</Relationships>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
</Relationships>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
</Relationships>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
</Relationships>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1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D1FB6C2-BBC2-4381-8E9B-F26B8FFEB6D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4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3AFB4AE-1C4C-463E-9B08-E8C166B4DEB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07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B25E490-E478-4303-A31E-AD3BC2823753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0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0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68B2516-0CA3-432E-A611-9C590921ACD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3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ECFA990-0E27-4954-A59E-771801683C75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6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AC063E36-731A-4CE1-9ED7-C56F68CB79BB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19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23C5800-6A72-43D3-AF2F-FC0D7F9551E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2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58E97C7B-CA0A-433B-B04E-3D8D54411E6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5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91FE89F-E6CD-42CF-A06B-573684B1FB1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28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9F289E93-2171-4C47-B57A-ED7B03DC190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1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73421BFF-4AE8-4967-8BF8-EE051C03B1D6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4" name="PlaceHolder 3"/>
          <p:cNvSpPr>
            <a:spLocks noGrp="1"/>
          </p:cNvSpPr>
          <p:nvPr>
            <p:ph type="sldNum" idx="1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9482505-7D9E-4C04-93FF-6A358D6AAB20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37" name="PlaceHolder 3"/>
          <p:cNvSpPr>
            <a:spLocks noGrp="1"/>
          </p:cNvSpPr>
          <p:nvPr>
            <p:ph type="sldNum" idx="1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088B0894-2EF7-423E-B36E-768EB221DF72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0" name="PlaceHolder 3"/>
          <p:cNvSpPr>
            <a:spLocks noGrp="1"/>
          </p:cNvSpPr>
          <p:nvPr>
            <p:ph type="sldNum" idx="1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B434B109-FF73-43D6-B729-1542771BE4AD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4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endParaRPr b="0" lang="en-IN" sz="2000" spc="-1" strike="noStrike">
              <a:latin typeface="Arial"/>
            </a:endParaRPr>
          </a:p>
        </p:txBody>
      </p:sp>
      <p:sp>
        <p:nvSpPr>
          <p:cNvPr id="443" name="PlaceHolder 3"/>
          <p:cNvSpPr>
            <a:spLocks noGrp="1"/>
          </p:cNvSpPr>
          <p:nvPr>
            <p:ph type="sldNum" idx="1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64148B6D-A032-4C5B-B86C-6A57E6942379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Cli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ck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to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edi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th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titl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e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tex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 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for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ma</a:t>
            </a:r>
            <a:r>
              <a:rPr b="0" lang="en-IN" sz="1800" spc="-1" strike="noStrike">
                <a:solidFill>
                  <a:srgbClr val="000000"/>
                </a:solidFill>
                <a:latin typeface="Calibri"/>
              </a:rPr>
              <a:t>t</a:t>
            </a:r>
            <a:endParaRPr b="0" lang="en-IN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3200" spc="-1" strike="noStrike">
                <a:solidFill>
                  <a:srgbClr val="000000"/>
                </a:solidFill>
                <a:latin typeface="Calibri"/>
              </a:rPr>
              <a:t>Click to edit the outline text format</a:t>
            </a:r>
            <a:endParaRPr b="0" lang="en-IN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IN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IN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IN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image" Target="../media/image10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3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png"/><Relationship Id="rId3" Type="http://schemas.openxmlformats.org/officeDocument/2006/relationships/image" Target="../media/image26.png"/><Relationship Id="rId4" Type="http://schemas.openxmlformats.org/officeDocument/2006/relationships/image" Target="../media/image27.png"/><Relationship Id="rId5" Type="http://schemas.openxmlformats.org/officeDocument/2006/relationships/image" Target="../media/image28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5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0"/>
          <p:cNvSpPr/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102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5" name="Shape 1"/>
          <p:cNvSpPr/>
          <p:nvPr/>
        </p:nvSpPr>
        <p:spPr>
          <a:xfrm>
            <a:off x="8778240" y="-1463040"/>
            <a:ext cx="5943240" cy="5943240"/>
          </a:xfrm>
          <a:prstGeom prst="ellipse">
            <a:avLst/>
          </a:prstGeom>
          <a:solidFill>
            <a:srgbClr val="163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6" name="Text 2"/>
          <p:cNvSpPr/>
          <p:nvPr/>
        </p:nvSpPr>
        <p:spPr>
          <a:xfrm>
            <a:off x="640080" y="1417320"/>
            <a:ext cx="8686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99" strike="noStrike">
                <a:solidFill>
                  <a:srgbClr val="6fb8cf"/>
                </a:solidFill>
                <a:latin typeface="Calibri"/>
                <a:ea typeface="Calibri"/>
              </a:rPr>
              <a:t>LINUX KERNEL  ·  I2C CAMERA SENSOR  ·  EMBEDDED LINUX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47" name="Text 3"/>
          <p:cNvSpPr/>
          <p:nvPr/>
        </p:nvSpPr>
        <p:spPr>
          <a:xfrm>
            <a:off x="594360" y="1874520"/>
            <a:ext cx="8777880" cy="9140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ffffff"/>
                </a:solidFill>
                <a:latin typeface="Cambria"/>
                <a:ea typeface="Cambria"/>
              </a:rPr>
              <a:t>Custom IMX219 Camera Driver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8" name="Text 4"/>
          <p:cNvSpPr/>
          <p:nvPr/>
        </p:nvSpPr>
        <p:spPr>
          <a:xfrm>
            <a:off x="594360" y="2606040"/>
            <a:ext cx="87778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4400" spc="-1" strike="noStrike">
                <a:solidFill>
                  <a:srgbClr val="1c7293"/>
                </a:solidFill>
                <a:latin typeface="Cambria"/>
                <a:ea typeface="Cambria"/>
              </a:rPr>
              <a:t>on Raspberry Pi</a:t>
            </a:r>
            <a:endParaRPr b="0" lang="en-IN" sz="4400" spc="-1" strike="noStrike">
              <a:latin typeface="Arial"/>
            </a:endParaRPr>
          </a:p>
        </p:txBody>
      </p:sp>
      <p:sp>
        <p:nvSpPr>
          <p:cNvPr id="49" name="Text 5"/>
          <p:cNvSpPr/>
          <p:nvPr/>
        </p:nvSpPr>
        <p:spPr>
          <a:xfrm>
            <a:off x="640080" y="3520440"/>
            <a:ext cx="7863480" cy="731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c9dce6"/>
                </a:solidFill>
                <a:latin typeface="Calibri"/>
                <a:ea typeface="Calibri"/>
              </a:rPr>
              <a:t>How sensor detection works, how the built-in driver claims the camera first, and how to bypass it cleanly to run your own.</a:t>
            </a:r>
            <a:endParaRPr b="0" lang="en-IN" sz="1550" spc="-1" strike="noStrike">
              <a:latin typeface="Arial"/>
            </a:endParaRPr>
          </a:p>
        </p:txBody>
      </p:sp>
      <p:sp>
        <p:nvSpPr>
          <p:cNvPr id="50" name="Shape 6"/>
          <p:cNvSpPr/>
          <p:nvPr/>
        </p:nvSpPr>
        <p:spPr>
          <a:xfrm>
            <a:off x="9646920" y="1965960"/>
            <a:ext cx="1919880" cy="191988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1" name="Image 0" descr="preencoded.png"/>
          <p:cNvPicPr/>
          <p:nvPr/>
        </p:nvPicPr>
        <p:blipFill>
          <a:blip r:embed="rId1"/>
          <a:stretch/>
        </p:blipFill>
        <p:spPr>
          <a:xfrm>
            <a:off x="9973440" y="2292480"/>
            <a:ext cx="1266840" cy="1266840"/>
          </a:xfrm>
          <a:prstGeom prst="rect">
            <a:avLst/>
          </a:prstGeom>
          <a:ln w="0">
            <a:noFill/>
          </a:ln>
        </p:spPr>
      </p:pic>
      <p:sp>
        <p:nvSpPr>
          <p:cNvPr id="52" name="Text 7"/>
          <p:cNvSpPr/>
          <p:nvPr/>
        </p:nvSpPr>
        <p:spPr>
          <a:xfrm>
            <a:off x="640080" y="5989320"/>
            <a:ext cx="54860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8fb4c9"/>
                </a:solidFill>
                <a:latin typeface="Calibri"/>
                <a:ea typeface="Calibri"/>
              </a:rPr>
              <a:t>Prepared by Karthikeya Dokku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53" name="Text 8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fb4c9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54" name="Text 9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fb4c9"/>
                </a:solidFill>
                <a:latin typeface="Calibri"/>
                <a:ea typeface="Calibri"/>
              </a:rPr>
              <a:t>1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Text 0"/>
          <p:cNvSpPr/>
          <p:nvPr/>
        </p:nvSpPr>
        <p:spPr>
          <a:xfrm>
            <a:off x="50292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Calibri"/>
                <a:ea typeface="Calibri"/>
              </a:rPr>
              <a:t>AGENDA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56" name="Text 1"/>
          <p:cNvSpPr/>
          <p:nvPr/>
        </p:nvSpPr>
        <p:spPr>
          <a:xfrm>
            <a:off x="457200" y="658440"/>
            <a:ext cx="1124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b5d75"/>
                </a:solidFill>
                <a:latin typeface="Cambria"/>
                <a:ea typeface="Cambria"/>
              </a:rPr>
              <a:t>What We'll Cover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57" name="Text 2"/>
          <p:cNvSpPr/>
          <p:nvPr/>
        </p:nvSpPr>
        <p:spPr>
          <a:xfrm>
            <a:off x="50292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From boot-time detection to a fully validated custom driver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58" name="Shape 3"/>
          <p:cNvSpPr/>
          <p:nvPr/>
        </p:nvSpPr>
        <p:spPr>
          <a:xfrm>
            <a:off x="640080" y="1929240"/>
            <a:ext cx="566640" cy="566640"/>
          </a:xfrm>
          <a:prstGeom prst="ellipse">
            <a:avLst/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59" name="Image 0" descr="preencoded.png"/>
          <p:cNvPicPr/>
          <p:nvPr/>
        </p:nvPicPr>
        <p:blipFill>
          <a:blip r:embed="rId1"/>
          <a:stretch/>
        </p:blipFill>
        <p:spPr>
          <a:xfrm>
            <a:off x="736560" y="2025720"/>
            <a:ext cx="373680" cy="373680"/>
          </a:xfrm>
          <a:prstGeom prst="rect">
            <a:avLst/>
          </a:prstGeom>
          <a:ln w="0">
            <a:noFill/>
          </a:ln>
        </p:spPr>
      </p:pic>
      <p:sp>
        <p:nvSpPr>
          <p:cNvPr id="60" name="Text 4"/>
          <p:cNvSpPr/>
          <p:nvPr/>
        </p:nvSpPr>
        <p:spPr>
          <a:xfrm>
            <a:off x="1508760" y="1847160"/>
            <a:ext cx="9692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e2a3a"/>
                </a:solidFill>
                <a:latin typeface="Cambria"/>
                <a:ea typeface="Cambria"/>
              </a:rPr>
              <a:t>How Linux Detects the Camera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61" name="Text 5"/>
          <p:cNvSpPr/>
          <p:nvPr/>
        </p:nvSpPr>
        <p:spPr>
          <a:xfrm>
            <a:off x="1508760" y="2203560"/>
            <a:ext cx="969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  <a:ea typeface="Calibri"/>
              </a:rPr>
              <a:t>Device Tree parsing, I2C registration, and driver matching at boot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2" name="Shape 6"/>
          <p:cNvSpPr/>
          <p:nvPr/>
        </p:nvSpPr>
        <p:spPr>
          <a:xfrm>
            <a:off x="640080" y="2770560"/>
            <a:ext cx="566640" cy="566640"/>
          </a:xfrm>
          <a:prstGeom prst="ellipse">
            <a:avLst/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3" name="Image 1" descr="preencoded.png"/>
          <p:cNvPicPr/>
          <p:nvPr/>
        </p:nvPicPr>
        <p:blipFill>
          <a:blip r:embed="rId2"/>
          <a:stretch/>
        </p:blipFill>
        <p:spPr>
          <a:xfrm>
            <a:off x="736560" y="2867040"/>
            <a:ext cx="373680" cy="373680"/>
          </a:xfrm>
          <a:prstGeom prst="rect">
            <a:avLst/>
          </a:prstGeom>
          <a:ln w="0">
            <a:noFill/>
          </a:ln>
        </p:spPr>
      </p:pic>
      <p:sp>
        <p:nvSpPr>
          <p:cNvPr id="64" name="Text 7"/>
          <p:cNvSpPr/>
          <p:nvPr/>
        </p:nvSpPr>
        <p:spPr>
          <a:xfrm>
            <a:off x="1508760" y="2688480"/>
            <a:ext cx="9692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e2a3a"/>
                </a:solidFill>
                <a:latin typeface="Cambria"/>
                <a:ea typeface="Cambria"/>
              </a:rPr>
              <a:t>Internal Architecture of the Pi Camera Stack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65" name="Text 8"/>
          <p:cNvSpPr/>
          <p:nvPr/>
        </p:nvSpPr>
        <p:spPr>
          <a:xfrm>
            <a:off x="1508760" y="3044880"/>
            <a:ext cx="969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  <a:ea typeface="Calibri"/>
              </a:rPr>
              <a:t>From libcamera down through V4L2, the media controller, and the I2C bus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66" name="Shape 9"/>
          <p:cNvSpPr/>
          <p:nvPr/>
        </p:nvSpPr>
        <p:spPr>
          <a:xfrm>
            <a:off x="640080" y="3611880"/>
            <a:ext cx="566640" cy="566640"/>
          </a:xfrm>
          <a:prstGeom prst="ellipse">
            <a:avLst/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67" name="Image 2" descr="preencoded.png"/>
          <p:cNvPicPr/>
          <p:nvPr/>
        </p:nvPicPr>
        <p:blipFill>
          <a:blip r:embed="rId3"/>
          <a:stretch/>
        </p:blipFill>
        <p:spPr>
          <a:xfrm>
            <a:off x="736560" y="3708360"/>
            <a:ext cx="373680" cy="373680"/>
          </a:xfrm>
          <a:prstGeom prst="rect">
            <a:avLst/>
          </a:prstGeom>
          <a:ln w="0">
            <a:noFill/>
          </a:ln>
        </p:spPr>
      </p:pic>
      <p:sp>
        <p:nvSpPr>
          <p:cNvPr id="68" name="Text 10"/>
          <p:cNvSpPr/>
          <p:nvPr/>
        </p:nvSpPr>
        <p:spPr>
          <a:xfrm>
            <a:off x="1508760" y="3529440"/>
            <a:ext cx="9692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e2a3a"/>
                </a:solidFill>
                <a:latin typeface="Cambria"/>
                <a:ea typeface="Cambria"/>
              </a:rPr>
              <a:t>Why the Official Driver Wins by Default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69" name="Text 11"/>
          <p:cNvSpPr/>
          <p:nvPr/>
        </p:nvSpPr>
        <p:spPr>
          <a:xfrm>
            <a:off x="1508760" y="3886200"/>
            <a:ext cx="969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  <a:ea typeface="Calibri"/>
              </a:rPr>
              <a:t>Compatible-string matching and module load order favor the built-in driver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70" name="Shape 12"/>
          <p:cNvSpPr/>
          <p:nvPr/>
        </p:nvSpPr>
        <p:spPr>
          <a:xfrm>
            <a:off x="640080" y="4453200"/>
            <a:ext cx="566640" cy="566640"/>
          </a:xfrm>
          <a:prstGeom prst="ellipse">
            <a:avLst/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1" name="Image 3" descr="preencoded.png"/>
          <p:cNvPicPr/>
          <p:nvPr/>
        </p:nvPicPr>
        <p:blipFill>
          <a:blip r:embed="rId4"/>
          <a:stretch/>
        </p:blipFill>
        <p:spPr>
          <a:xfrm>
            <a:off x="736560" y="4549680"/>
            <a:ext cx="373680" cy="373680"/>
          </a:xfrm>
          <a:prstGeom prst="rect">
            <a:avLst/>
          </a:prstGeom>
          <a:ln w="0">
            <a:noFill/>
          </a:ln>
        </p:spPr>
      </p:pic>
      <p:sp>
        <p:nvSpPr>
          <p:cNvPr id="72" name="Text 13"/>
          <p:cNvSpPr/>
          <p:nvPr/>
        </p:nvSpPr>
        <p:spPr>
          <a:xfrm>
            <a:off x="1508760" y="4370760"/>
            <a:ext cx="9692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e2a3a"/>
                </a:solidFill>
                <a:latin typeface="Cambria"/>
                <a:ea typeface="Cambria"/>
              </a:rPr>
              <a:t>Three Ways to Bypass the Built-in Driver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73" name="Text 14"/>
          <p:cNvSpPr/>
          <p:nvPr/>
        </p:nvSpPr>
        <p:spPr>
          <a:xfrm>
            <a:off x="1508760" y="4727520"/>
            <a:ext cx="969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  <a:ea typeface="Calibri"/>
              </a:rPr>
              <a:t>Unload it, disable it, or rename it — choose the cleanest path for your case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74" name="Shape 15"/>
          <p:cNvSpPr/>
          <p:nvPr/>
        </p:nvSpPr>
        <p:spPr>
          <a:xfrm>
            <a:off x="640080" y="5294520"/>
            <a:ext cx="566640" cy="566640"/>
          </a:xfrm>
          <a:prstGeom prst="ellipse">
            <a:avLst/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75" name="Image 4" descr="preencoded.png"/>
          <p:cNvPicPr/>
          <p:nvPr/>
        </p:nvPicPr>
        <p:blipFill>
          <a:blip r:embed="rId5"/>
          <a:stretch/>
        </p:blipFill>
        <p:spPr>
          <a:xfrm>
            <a:off x="736560" y="5390640"/>
            <a:ext cx="373680" cy="373680"/>
          </a:xfrm>
          <a:prstGeom prst="rect">
            <a:avLst/>
          </a:prstGeom>
          <a:ln w="0">
            <a:noFill/>
          </a:ln>
        </p:spPr>
      </p:pic>
      <p:sp>
        <p:nvSpPr>
          <p:cNvPr id="76" name="Text 16"/>
          <p:cNvSpPr/>
          <p:nvPr/>
        </p:nvSpPr>
        <p:spPr>
          <a:xfrm>
            <a:off x="1508760" y="5212080"/>
            <a:ext cx="9692280" cy="3837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700" spc="-1" strike="noStrike">
                <a:solidFill>
                  <a:srgbClr val="1e2a3a"/>
                </a:solidFill>
                <a:latin typeface="Cambria"/>
                <a:ea typeface="Cambria"/>
              </a:rPr>
              <a:t>Parameters Your Custom Driver Must Handle</a:t>
            </a:r>
            <a:endParaRPr b="0" lang="en-IN" sz="1700" spc="-1" strike="noStrike">
              <a:latin typeface="Arial"/>
            </a:endParaRPr>
          </a:p>
        </p:txBody>
      </p:sp>
      <p:sp>
        <p:nvSpPr>
          <p:cNvPr id="77" name="Text 17"/>
          <p:cNvSpPr/>
          <p:nvPr/>
        </p:nvSpPr>
        <p:spPr>
          <a:xfrm>
            <a:off x="1508760" y="5568840"/>
            <a:ext cx="969228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64748b"/>
                </a:solidFill>
                <a:latin typeface="Calibri"/>
                <a:ea typeface="Calibri"/>
              </a:rPr>
              <a:t>Bring-up settings plus the runtime controls exposed by the IMX219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78" name="Text 18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79" name="Text 19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2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Text 0"/>
          <p:cNvSpPr/>
          <p:nvPr/>
        </p:nvSpPr>
        <p:spPr>
          <a:xfrm>
            <a:off x="50292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Calibri"/>
                <a:ea typeface="Calibri"/>
              </a:rPr>
              <a:t>BOOT-TIME DETECTION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81" name="Text 1"/>
          <p:cNvSpPr/>
          <p:nvPr/>
        </p:nvSpPr>
        <p:spPr>
          <a:xfrm>
            <a:off x="457200" y="658440"/>
            <a:ext cx="1124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b5d75"/>
                </a:solidFill>
                <a:latin typeface="Cambria"/>
                <a:ea typeface="Cambria"/>
              </a:rPr>
              <a:t>How Linux Detects a Camera at Boot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82" name="Text 2"/>
          <p:cNvSpPr/>
          <p:nvPr/>
        </p:nvSpPr>
        <p:spPr>
          <a:xfrm>
            <a:off x="50292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Six steps happen before your driver ever gets a chance to run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83" name="Shape 3"/>
          <p:cNvSpPr/>
          <p:nvPr/>
        </p:nvSpPr>
        <p:spPr>
          <a:xfrm>
            <a:off x="904320" y="2788920"/>
            <a:ext cx="1627200" cy="1782720"/>
          </a:xfrm>
          <a:prstGeom prst="roundRect">
            <a:avLst>
              <a:gd name="adj" fmla="val 4494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4" name="Shape 4"/>
          <p:cNvSpPr/>
          <p:nvPr/>
        </p:nvSpPr>
        <p:spPr>
          <a:xfrm>
            <a:off x="1461960" y="2971800"/>
            <a:ext cx="511560" cy="511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85" name="Image 0" descr="preencoded.png"/>
          <p:cNvPicPr/>
          <p:nvPr/>
        </p:nvPicPr>
        <p:blipFill>
          <a:blip r:embed="rId1"/>
          <a:stretch/>
        </p:blipFill>
        <p:spPr>
          <a:xfrm>
            <a:off x="1539000" y="3048480"/>
            <a:ext cx="358200" cy="358200"/>
          </a:xfrm>
          <a:prstGeom prst="rect">
            <a:avLst/>
          </a:prstGeom>
          <a:ln w="0">
            <a:noFill/>
          </a:ln>
        </p:spPr>
      </p:pic>
      <p:sp>
        <p:nvSpPr>
          <p:cNvPr id="86" name="Text 5"/>
          <p:cNvSpPr/>
          <p:nvPr/>
        </p:nvSpPr>
        <p:spPr>
          <a:xfrm>
            <a:off x="977400" y="3657600"/>
            <a:ext cx="1481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a3a"/>
                </a:solidFill>
                <a:latin typeface="Calibri"/>
                <a:ea typeface="Calibri"/>
              </a:rPr>
              <a:t>Boot Sequence Starts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87" name="Text 6"/>
          <p:cNvSpPr/>
          <p:nvPr/>
        </p:nvSpPr>
        <p:spPr>
          <a:xfrm>
            <a:off x="2531880" y="3360600"/>
            <a:ext cx="123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64748b"/>
                </a:solidFill>
                <a:latin typeface="Calibri"/>
                <a:ea typeface="Calibri"/>
              </a:rPr>
              <a:t>&gt;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88" name="Shape 7"/>
          <p:cNvSpPr/>
          <p:nvPr/>
        </p:nvSpPr>
        <p:spPr>
          <a:xfrm>
            <a:off x="2655360" y="2788920"/>
            <a:ext cx="1627200" cy="1782720"/>
          </a:xfrm>
          <a:prstGeom prst="roundRect">
            <a:avLst>
              <a:gd name="adj" fmla="val 4494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Shape 8"/>
          <p:cNvSpPr/>
          <p:nvPr/>
        </p:nvSpPr>
        <p:spPr>
          <a:xfrm>
            <a:off x="3213360" y="2971800"/>
            <a:ext cx="511560" cy="511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0" name="Image 1" descr="preencoded.png"/>
          <p:cNvPicPr/>
          <p:nvPr/>
        </p:nvPicPr>
        <p:blipFill>
          <a:blip r:embed="rId2"/>
          <a:stretch/>
        </p:blipFill>
        <p:spPr>
          <a:xfrm>
            <a:off x="3290040" y="3048480"/>
            <a:ext cx="358200" cy="358200"/>
          </a:xfrm>
          <a:prstGeom prst="rect">
            <a:avLst/>
          </a:prstGeom>
          <a:ln w="0">
            <a:noFill/>
          </a:ln>
        </p:spPr>
      </p:pic>
      <p:sp>
        <p:nvSpPr>
          <p:cNvPr id="91" name="Text 9"/>
          <p:cNvSpPr/>
          <p:nvPr/>
        </p:nvSpPr>
        <p:spPr>
          <a:xfrm>
            <a:off x="2728440" y="3657600"/>
            <a:ext cx="1481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a3a"/>
                </a:solidFill>
                <a:latin typeface="Calibri"/>
                <a:ea typeface="Calibri"/>
              </a:rPr>
              <a:t>Device Tree Parsed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2" name="Text 10"/>
          <p:cNvSpPr/>
          <p:nvPr/>
        </p:nvSpPr>
        <p:spPr>
          <a:xfrm>
            <a:off x="4282920" y="3360600"/>
            <a:ext cx="123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64748b"/>
                </a:solidFill>
                <a:latin typeface="Calibri"/>
                <a:ea typeface="Calibri"/>
              </a:rPr>
              <a:t>&gt;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3" name="Shape 11"/>
          <p:cNvSpPr/>
          <p:nvPr/>
        </p:nvSpPr>
        <p:spPr>
          <a:xfrm>
            <a:off x="4406400" y="2788920"/>
            <a:ext cx="1627200" cy="1782720"/>
          </a:xfrm>
          <a:prstGeom prst="roundRect">
            <a:avLst>
              <a:gd name="adj" fmla="val 4494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4" name="Shape 12"/>
          <p:cNvSpPr/>
          <p:nvPr/>
        </p:nvSpPr>
        <p:spPr>
          <a:xfrm>
            <a:off x="4964400" y="2971800"/>
            <a:ext cx="511560" cy="511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95" name="Image 2" descr="preencoded.png"/>
          <p:cNvPicPr/>
          <p:nvPr/>
        </p:nvPicPr>
        <p:blipFill>
          <a:blip r:embed="rId3"/>
          <a:stretch/>
        </p:blipFill>
        <p:spPr>
          <a:xfrm>
            <a:off x="5041080" y="3048480"/>
            <a:ext cx="358200" cy="358200"/>
          </a:xfrm>
          <a:prstGeom prst="rect">
            <a:avLst/>
          </a:prstGeom>
          <a:ln w="0">
            <a:noFill/>
          </a:ln>
        </p:spPr>
      </p:pic>
      <p:sp>
        <p:nvSpPr>
          <p:cNvPr id="96" name="Text 13"/>
          <p:cNvSpPr/>
          <p:nvPr/>
        </p:nvSpPr>
        <p:spPr>
          <a:xfrm>
            <a:off x="4479480" y="3657600"/>
            <a:ext cx="1481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a3a"/>
                </a:solidFill>
                <a:latin typeface="Calibri"/>
                <a:ea typeface="Calibri"/>
              </a:rPr>
              <a:t>I2C Device Node Created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6033960" y="3360600"/>
            <a:ext cx="123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64748b"/>
                </a:solidFill>
                <a:latin typeface="Calibri"/>
                <a:ea typeface="Calibri"/>
              </a:rPr>
              <a:t>&gt;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98" name="Shape 15"/>
          <p:cNvSpPr/>
          <p:nvPr/>
        </p:nvSpPr>
        <p:spPr>
          <a:xfrm>
            <a:off x="6157440" y="2788920"/>
            <a:ext cx="1627200" cy="1782720"/>
          </a:xfrm>
          <a:prstGeom prst="roundRect">
            <a:avLst>
              <a:gd name="adj" fmla="val 4494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99" name="Shape 16"/>
          <p:cNvSpPr/>
          <p:nvPr/>
        </p:nvSpPr>
        <p:spPr>
          <a:xfrm>
            <a:off x="6715440" y="2971800"/>
            <a:ext cx="511560" cy="511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0" name="Image 3" descr="preencoded.png"/>
          <p:cNvPicPr/>
          <p:nvPr/>
        </p:nvPicPr>
        <p:blipFill>
          <a:blip r:embed="rId4"/>
          <a:stretch/>
        </p:blipFill>
        <p:spPr>
          <a:xfrm>
            <a:off x="6792120" y="3048480"/>
            <a:ext cx="358200" cy="358200"/>
          </a:xfrm>
          <a:prstGeom prst="rect">
            <a:avLst/>
          </a:prstGeom>
          <a:ln w="0">
            <a:noFill/>
          </a:ln>
        </p:spPr>
      </p:pic>
      <p:sp>
        <p:nvSpPr>
          <p:cNvPr id="101" name="Text 17"/>
          <p:cNvSpPr/>
          <p:nvPr/>
        </p:nvSpPr>
        <p:spPr>
          <a:xfrm>
            <a:off x="6230880" y="3657600"/>
            <a:ext cx="1481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a3a"/>
                </a:solidFill>
                <a:latin typeface="Calibri"/>
                <a:ea typeface="Calibri"/>
              </a:rPr>
              <a:t>Compatible String Matched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2" name="Text 18"/>
          <p:cNvSpPr/>
          <p:nvPr/>
        </p:nvSpPr>
        <p:spPr>
          <a:xfrm>
            <a:off x="7785360" y="3360600"/>
            <a:ext cx="123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64748b"/>
                </a:solidFill>
                <a:latin typeface="Calibri"/>
                <a:ea typeface="Calibri"/>
              </a:rPr>
              <a:t>&gt;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03" name="Shape 19"/>
          <p:cNvSpPr/>
          <p:nvPr/>
        </p:nvSpPr>
        <p:spPr>
          <a:xfrm>
            <a:off x="7908480" y="2788920"/>
            <a:ext cx="1627200" cy="1782720"/>
          </a:xfrm>
          <a:prstGeom prst="roundRect">
            <a:avLst>
              <a:gd name="adj" fmla="val 4494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Shape 20"/>
          <p:cNvSpPr/>
          <p:nvPr/>
        </p:nvSpPr>
        <p:spPr>
          <a:xfrm>
            <a:off x="8466480" y="2971800"/>
            <a:ext cx="511560" cy="511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05" name="Image 4" descr="preencoded.png"/>
          <p:cNvPicPr/>
          <p:nvPr/>
        </p:nvPicPr>
        <p:blipFill>
          <a:blip r:embed="rId5"/>
          <a:stretch/>
        </p:blipFill>
        <p:spPr>
          <a:xfrm>
            <a:off x="8543160" y="3048480"/>
            <a:ext cx="358200" cy="358200"/>
          </a:xfrm>
          <a:prstGeom prst="rect">
            <a:avLst/>
          </a:prstGeom>
          <a:ln w="0">
            <a:noFill/>
          </a:ln>
        </p:spPr>
      </p:pic>
      <p:sp>
        <p:nvSpPr>
          <p:cNvPr id="106" name="Text 21"/>
          <p:cNvSpPr/>
          <p:nvPr/>
        </p:nvSpPr>
        <p:spPr>
          <a:xfrm>
            <a:off x="7981920" y="3657600"/>
            <a:ext cx="1481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a3a"/>
                </a:solidFill>
                <a:latin typeface="Calibri"/>
                <a:ea typeface="Calibri"/>
              </a:rPr>
              <a:t>probe() Function Called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07" name="Text 22"/>
          <p:cNvSpPr/>
          <p:nvPr/>
        </p:nvSpPr>
        <p:spPr>
          <a:xfrm>
            <a:off x="9536400" y="3360600"/>
            <a:ext cx="123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64748b"/>
                </a:solidFill>
                <a:latin typeface="Calibri"/>
                <a:ea typeface="Calibri"/>
              </a:rPr>
              <a:t>&gt;</a:t>
            </a:r>
            <a:endParaRPr b="0" lang="en-IN" sz="2000" spc="-1" strike="noStrike">
              <a:latin typeface="Arial"/>
            </a:endParaRPr>
          </a:p>
        </p:txBody>
      </p:sp>
      <p:sp>
        <p:nvSpPr>
          <p:cNvPr id="108" name="Shape 23"/>
          <p:cNvSpPr/>
          <p:nvPr/>
        </p:nvSpPr>
        <p:spPr>
          <a:xfrm>
            <a:off x="9659880" y="2788920"/>
            <a:ext cx="1627200" cy="1782720"/>
          </a:xfrm>
          <a:prstGeom prst="roundRect">
            <a:avLst>
              <a:gd name="adj" fmla="val 4494"/>
            </a:avLst>
          </a:prstGeom>
          <a:solidFill>
            <a:srgbClr val="1c7293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9" name="Shape 24"/>
          <p:cNvSpPr/>
          <p:nvPr/>
        </p:nvSpPr>
        <p:spPr>
          <a:xfrm>
            <a:off x="10217520" y="2971800"/>
            <a:ext cx="511560" cy="511560"/>
          </a:xfrm>
          <a:prstGeom prst="ellipse">
            <a:avLst/>
          </a:prstGeom>
          <a:solidFill>
            <a:srgbClr val="1658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10" name="Image 5" descr="preencoded.png"/>
          <p:cNvPicPr/>
          <p:nvPr/>
        </p:nvPicPr>
        <p:blipFill>
          <a:blip r:embed="rId6"/>
          <a:stretch/>
        </p:blipFill>
        <p:spPr>
          <a:xfrm>
            <a:off x="10294200" y="3048480"/>
            <a:ext cx="358200" cy="358200"/>
          </a:xfrm>
          <a:prstGeom prst="rect">
            <a:avLst/>
          </a:prstGeom>
          <a:ln w="0">
            <a:noFill/>
          </a:ln>
        </p:spPr>
      </p:pic>
      <p:sp>
        <p:nvSpPr>
          <p:cNvPr id="111" name="Text 25"/>
          <p:cNvSpPr/>
          <p:nvPr/>
        </p:nvSpPr>
        <p:spPr>
          <a:xfrm>
            <a:off x="9732960" y="3657600"/>
            <a:ext cx="14810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Sensor Registered &amp; Ready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12" name="Text 26"/>
          <p:cNvSpPr/>
          <p:nvPr/>
        </p:nvSpPr>
        <p:spPr>
          <a:xfrm>
            <a:off x="640080" y="512064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Once probe() succeeds, the matching driver owns the device — every later registration attempt is rejected.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13" name="Text 27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14" name="Text 28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3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50292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Calibri"/>
                <a:ea typeface="Calibri"/>
              </a:rPr>
              <a:t>LINUX DRIVER MODEL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457200" y="658440"/>
            <a:ext cx="1124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b5d75"/>
                </a:solidFill>
                <a:latin typeface="Cambria"/>
                <a:ea typeface="Cambria"/>
              </a:rPr>
              <a:t>Bus, Device, and Driver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50292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The match mechanism that decides which driver owns the sensor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777240" y="1600200"/>
            <a:ext cx="4754520" cy="1142640"/>
          </a:xfrm>
          <a:prstGeom prst="roundRect">
            <a:avLst>
              <a:gd name="adj" fmla="val 5600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9" name="Text 4"/>
          <p:cNvSpPr/>
          <p:nvPr/>
        </p:nvSpPr>
        <p:spPr>
          <a:xfrm>
            <a:off x="1005840" y="171000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e2a3a"/>
                </a:solidFill>
                <a:latin typeface="Cambria"/>
                <a:ea typeface="Cambria"/>
              </a:rPr>
              <a:t>DEVICE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1005840" y="2057400"/>
            <a:ext cx="4297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e2a3a"/>
                </a:solidFill>
                <a:latin typeface="Calibri"/>
                <a:ea typeface="Calibri"/>
              </a:rPr>
              <a:t>I2C address + compatible string, declared in the Device Tree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1" name="Shape 6"/>
          <p:cNvSpPr/>
          <p:nvPr/>
        </p:nvSpPr>
        <p:spPr>
          <a:xfrm>
            <a:off x="6675120" y="1600200"/>
            <a:ext cx="4754520" cy="1142640"/>
          </a:xfrm>
          <a:prstGeom prst="roundRect">
            <a:avLst>
              <a:gd name="adj" fmla="val 5600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2" name="Text 7"/>
          <p:cNvSpPr/>
          <p:nvPr/>
        </p:nvSpPr>
        <p:spPr>
          <a:xfrm>
            <a:off x="6903720" y="1710000"/>
            <a:ext cx="429732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1e2a3a"/>
                </a:solidFill>
                <a:latin typeface="Cambria"/>
                <a:ea typeface="Cambria"/>
              </a:rPr>
              <a:t>DRIVER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6903720" y="2057400"/>
            <a:ext cx="429732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1e2a3a"/>
                </a:solidFill>
                <a:latin typeface="Calibri"/>
                <a:ea typeface="Calibri"/>
              </a:rPr>
              <a:t>of_match_table plus probe() / remove() callback functions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2468880" y="274320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64748b"/>
                </a:solidFill>
                <a:latin typeface="Calibri"/>
              </a:rPr>
              <a:t>↓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2240280" y="30906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registers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8366760" y="2743200"/>
            <a:ext cx="13712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64748b"/>
                </a:solidFill>
                <a:latin typeface="Calibri"/>
              </a:rPr>
              <a:t>↓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8138160" y="3090600"/>
            <a:ext cx="182844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registers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128" name="Shape 13"/>
          <p:cNvSpPr/>
          <p:nvPr/>
        </p:nvSpPr>
        <p:spPr>
          <a:xfrm>
            <a:off x="3520440" y="3246120"/>
            <a:ext cx="5120280" cy="868320"/>
          </a:xfrm>
          <a:prstGeom prst="roundRect">
            <a:avLst>
              <a:gd name="adj" fmla="val 7368"/>
            </a:avLst>
          </a:prstGeom>
          <a:solidFill>
            <a:srgbClr val="1c7293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9" name="Text 14"/>
          <p:cNvSpPr/>
          <p:nvPr/>
        </p:nvSpPr>
        <p:spPr>
          <a:xfrm>
            <a:off x="3749040" y="335592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I2C BUS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3749040" y="370332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Compares every registered device's compatible string against every registered driver's of_match_table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1" name="Text 16"/>
          <p:cNvSpPr/>
          <p:nvPr/>
        </p:nvSpPr>
        <p:spPr>
          <a:xfrm>
            <a:off x="5394960" y="411480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64748b"/>
                </a:solidFill>
                <a:latin typeface="Calibri"/>
              </a:rPr>
              <a:t>↓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2" name="Shape 17"/>
          <p:cNvSpPr/>
          <p:nvPr/>
        </p:nvSpPr>
        <p:spPr>
          <a:xfrm>
            <a:off x="4937760" y="4498920"/>
            <a:ext cx="2285640" cy="502560"/>
          </a:xfrm>
          <a:prstGeom prst="roundRect">
            <a:avLst>
              <a:gd name="adj" fmla="val 49091"/>
            </a:avLst>
          </a:prstGeom>
          <a:solidFill>
            <a:srgbClr val="2e9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3" name="Text 18"/>
          <p:cNvSpPr/>
          <p:nvPr/>
        </p:nvSpPr>
        <p:spPr>
          <a:xfrm>
            <a:off x="4937760" y="4498920"/>
            <a:ext cx="228564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MATCH FOUND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34" name="Text 19"/>
          <p:cNvSpPr/>
          <p:nvPr/>
        </p:nvSpPr>
        <p:spPr>
          <a:xfrm>
            <a:off x="5394960" y="4983480"/>
            <a:ext cx="137124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200" spc="-1" strike="noStrike">
                <a:solidFill>
                  <a:srgbClr val="64748b"/>
                </a:solidFill>
                <a:latin typeface="Calibri"/>
              </a:rPr>
              <a:t>↓</a:t>
            </a:r>
            <a:endParaRPr b="0" lang="en-IN" sz="2200" spc="-1" strike="noStrike">
              <a:latin typeface="Arial"/>
            </a:endParaRPr>
          </a:p>
        </p:txBody>
      </p:sp>
      <p:sp>
        <p:nvSpPr>
          <p:cNvPr id="135" name="Shape 20"/>
          <p:cNvSpPr/>
          <p:nvPr/>
        </p:nvSpPr>
        <p:spPr>
          <a:xfrm>
            <a:off x="3520440" y="5349240"/>
            <a:ext cx="5120280" cy="868320"/>
          </a:xfrm>
          <a:prstGeom prst="roundRect">
            <a:avLst>
              <a:gd name="adj" fmla="val 7368"/>
            </a:avLst>
          </a:prstGeom>
          <a:solidFill>
            <a:srgbClr val="0b5d7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6" name="Text 21"/>
          <p:cNvSpPr/>
          <p:nvPr/>
        </p:nvSpPr>
        <p:spPr>
          <a:xfrm>
            <a:off x="3749040" y="545904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probe() Executes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37" name="Text 22"/>
          <p:cNvSpPr/>
          <p:nvPr/>
        </p:nvSpPr>
        <p:spPr>
          <a:xfrm>
            <a:off x="3749040" y="5806440"/>
            <a:ext cx="46630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ffffff"/>
                </a:solidFill>
                <a:latin typeface="Calibri"/>
                <a:ea typeface="Calibri"/>
              </a:rPr>
              <a:t>The matched driver now owns the device and can talk to the sensor over I2C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38" name="Text 23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39" name="Text 24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4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Text 0"/>
          <p:cNvSpPr/>
          <p:nvPr/>
        </p:nvSpPr>
        <p:spPr>
          <a:xfrm>
            <a:off x="50292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Calibri"/>
                <a:ea typeface="Calibri"/>
              </a:rPr>
              <a:t>SYSTEM ARCHITECTURE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41" name="Text 1"/>
          <p:cNvSpPr/>
          <p:nvPr/>
        </p:nvSpPr>
        <p:spPr>
          <a:xfrm>
            <a:off x="457200" y="658440"/>
            <a:ext cx="1124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b5d75"/>
                </a:solidFill>
                <a:latin typeface="Cambria"/>
                <a:ea typeface="Cambria"/>
              </a:rPr>
              <a:t>Raspberry Pi Camera Stack — Internal Layout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42" name="Text 2"/>
          <p:cNvSpPr/>
          <p:nvPr/>
        </p:nvSpPr>
        <p:spPr>
          <a:xfrm>
            <a:off x="50292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Six layers sit between an application call and the physical sensor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43" name="Shape 3"/>
          <p:cNvSpPr/>
          <p:nvPr/>
        </p:nvSpPr>
        <p:spPr>
          <a:xfrm>
            <a:off x="731520" y="1783080"/>
            <a:ext cx="8869320" cy="658080"/>
          </a:xfrm>
          <a:prstGeom prst="roundRect">
            <a:avLst>
              <a:gd name="adj" fmla="val 8333"/>
            </a:avLst>
          </a:prstGeom>
          <a:solidFill>
            <a:srgbClr val="bfe3e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4" name="Text 4"/>
          <p:cNvSpPr/>
          <p:nvPr/>
        </p:nvSpPr>
        <p:spPr>
          <a:xfrm>
            <a:off x="1005840" y="178308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a3a"/>
                </a:solidFill>
                <a:latin typeface="Calibri"/>
                <a:ea typeface="Calibri"/>
              </a:rPr>
              <a:t>Application Layer — libcamera / rpicam-apps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45" name="Text 5"/>
          <p:cNvSpPr/>
          <p:nvPr/>
        </p:nvSpPr>
        <p:spPr>
          <a:xfrm>
            <a:off x="9829800" y="1783080"/>
            <a:ext cx="2102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97" strike="noStrike">
                <a:solidFill>
                  <a:srgbClr val="64748b"/>
                </a:solidFill>
                <a:latin typeface="Calibri"/>
                <a:ea typeface="Calibri"/>
              </a:rPr>
              <a:t>USER SPACE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46" name="Shape 6"/>
          <p:cNvSpPr/>
          <p:nvPr/>
        </p:nvSpPr>
        <p:spPr>
          <a:xfrm>
            <a:off x="731520" y="2514600"/>
            <a:ext cx="8869320" cy="658080"/>
          </a:xfrm>
          <a:prstGeom prst="roundRect">
            <a:avLst>
              <a:gd name="adj" fmla="val 8333"/>
            </a:avLst>
          </a:prstGeom>
          <a:solidFill>
            <a:srgbClr val="8fcbde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7"/>
          <p:cNvSpPr/>
          <p:nvPr/>
        </p:nvSpPr>
        <p:spPr>
          <a:xfrm>
            <a:off x="1005840" y="251460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a3a"/>
                </a:solidFill>
                <a:latin typeface="Calibri"/>
                <a:ea typeface="Calibri"/>
              </a:rPr>
              <a:t>V4L2 Core (Video4Linux2 Framework)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48" name="Shape 8"/>
          <p:cNvSpPr/>
          <p:nvPr/>
        </p:nvSpPr>
        <p:spPr>
          <a:xfrm>
            <a:off x="731520" y="3246120"/>
            <a:ext cx="8869320" cy="658080"/>
          </a:xfrm>
          <a:prstGeom prst="roundRect">
            <a:avLst>
              <a:gd name="adj" fmla="val 8333"/>
            </a:avLst>
          </a:prstGeom>
          <a:solidFill>
            <a:srgbClr val="5faec9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9" name="Text 9"/>
          <p:cNvSpPr/>
          <p:nvPr/>
        </p:nvSpPr>
        <p:spPr>
          <a:xfrm>
            <a:off x="1005840" y="324612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Media Controller Framework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50" name="Text 10"/>
          <p:cNvSpPr/>
          <p:nvPr/>
        </p:nvSpPr>
        <p:spPr>
          <a:xfrm>
            <a:off x="9829800" y="3246120"/>
            <a:ext cx="2102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97" strike="noStrike">
                <a:solidFill>
                  <a:srgbClr val="64748b"/>
                </a:solidFill>
                <a:latin typeface="Calibri"/>
                <a:ea typeface="Calibri"/>
              </a:rPr>
              <a:t>KERNEL SPACE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1" name="Shape 11"/>
          <p:cNvSpPr/>
          <p:nvPr/>
        </p:nvSpPr>
        <p:spPr>
          <a:xfrm>
            <a:off x="731520" y="3977640"/>
            <a:ext cx="8869320" cy="658080"/>
          </a:xfrm>
          <a:prstGeom prst="roundRect">
            <a:avLst>
              <a:gd name="adj" fmla="val 8333"/>
            </a:avLst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Text 12"/>
          <p:cNvSpPr/>
          <p:nvPr/>
        </p:nvSpPr>
        <p:spPr>
          <a:xfrm>
            <a:off x="1005840" y="397764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IMX219 Kernel Driver (Official — sony,imx219)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53" name="Shape 13"/>
          <p:cNvSpPr/>
          <p:nvPr/>
        </p:nvSpPr>
        <p:spPr>
          <a:xfrm>
            <a:off x="731520" y="4709160"/>
            <a:ext cx="8869320" cy="658080"/>
          </a:xfrm>
          <a:prstGeom prst="roundRect">
            <a:avLst>
              <a:gd name="adj" fmla="val 8333"/>
            </a:avLst>
          </a:prstGeom>
          <a:solidFill>
            <a:srgbClr val="0b5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4" name="Text 14"/>
          <p:cNvSpPr/>
          <p:nvPr/>
        </p:nvSpPr>
        <p:spPr>
          <a:xfrm>
            <a:off x="1005840" y="470916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I2C Subsystem (i2c-bcm2835)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55" name="Shape 15"/>
          <p:cNvSpPr/>
          <p:nvPr/>
        </p:nvSpPr>
        <p:spPr>
          <a:xfrm>
            <a:off x="731520" y="5440680"/>
            <a:ext cx="8869320" cy="658080"/>
          </a:xfrm>
          <a:prstGeom prst="roundRect">
            <a:avLst>
              <a:gd name="adj" fmla="val 8333"/>
            </a:avLst>
          </a:prstGeom>
          <a:solidFill>
            <a:srgbClr val="10243a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Text 16"/>
          <p:cNvSpPr/>
          <p:nvPr/>
        </p:nvSpPr>
        <p:spPr>
          <a:xfrm>
            <a:off x="1005840" y="5440680"/>
            <a:ext cx="832068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Hardware — IMX219 Sensor (I2C control + MIPI CSI-2 data)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157" name="Text 17"/>
          <p:cNvSpPr/>
          <p:nvPr/>
        </p:nvSpPr>
        <p:spPr>
          <a:xfrm>
            <a:off x="9829800" y="5440680"/>
            <a:ext cx="2102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97" strike="noStrike">
                <a:solidFill>
                  <a:srgbClr val="64748b"/>
                </a:solidFill>
                <a:latin typeface="Calibri"/>
                <a:ea typeface="Calibri"/>
              </a:rPr>
              <a:t>HARDWARE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158" name="Text 18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59" name="Text 19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5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Text 0"/>
          <p:cNvSpPr/>
          <p:nvPr/>
        </p:nvSpPr>
        <p:spPr>
          <a:xfrm>
            <a:off x="50292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Calibri"/>
                <a:ea typeface="Calibri"/>
              </a:rPr>
              <a:t>DEFAULT BEHAVIOR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61" name="Text 1"/>
          <p:cNvSpPr/>
          <p:nvPr/>
        </p:nvSpPr>
        <p:spPr>
          <a:xfrm>
            <a:off x="457200" y="658440"/>
            <a:ext cx="1124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b5d75"/>
                </a:solidFill>
                <a:latin typeface="Cambria"/>
                <a:ea typeface="Cambria"/>
              </a:rPr>
              <a:t>Why the Official Driver Wins by Default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62" name="Text 2"/>
          <p:cNvSpPr/>
          <p:nvPr/>
        </p:nvSpPr>
        <p:spPr>
          <a:xfrm>
            <a:off x="50292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It is configured to bind before your module ever loads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63" name="Shape 3"/>
          <p:cNvSpPr/>
          <p:nvPr/>
        </p:nvSpPr>
        <p:spPr>
          <a:xfrm>
            <a:off x="685800" y="203904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4"/>
          <p:cNvSpPr/>
          <p:nvPr/>
        </p:nvSpPr>
        <p:spPr>
          <a:xfrm>
            <a:off x="960120" y="1856160"/>
            <a:ext cx="6034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1e2a3a"/>
                </a:solidFill>
                <a:latin typeface="Calibri"/>
                <a:ea typeface="Calibri"/>
              </a:rPr>
              <a:t>Raspberry Pi OS ships with dtoverlay=imx219 enabled out of the box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65" name="Shape 5"/>
          <p:cNvSpPr/>
          <p:nvPr/>
        </p:nvSpPr>
        <p:spPr>
          <a:xfrm>
            <a:off x="685800" y="269748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Text 6"/>
          <p:cNvSpPr/>
          <p:nvPr/>
        </p:nvSpPr>
        <p:spPr>
          <a:xfrm>
            <a:off x="960120" y="2514600"/>
            <a:ext cx="6034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1e2a3a"/>
                </a:solidFill>
                <a:latin typeface="Calibri"/>
                <a:ea typeface="Calibri"/>
              </a:rPr>
              <a:t>The Device Tree declares compatible = "sony,imx219"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67" name="Shape 7"/>
          <p:cNvSpPr/>
          <p:nvPr/>
        </p:nvSpPr>
        <p:spPr>
          <a:xfrm>
            <a:off x="685800" y="335592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Text 8"/>
          <p:cNvSpPr/>
          <p:nvPr/>
        </p:nvSpPr>
        <p:spPr>
          <a:xfrm>
            <a:off x="960120" y="3173040"/>
            <a:ext cx="6034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1e2a3a"/>
                </a:solidFill>
                <a:latin typeface="Calibri"/>
                <a:ea typeface="Calibri"/>
              </a:rPr>
              <a:t>The kernel auto-loads the official imx219.ko driver during boot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69" name="Shape 9"/>
          <p:cNvSpPr/>
          <p:nvPr/>
        </p:nvSpPr>
        <p:spPr>
          <a:xfrm>
            <a:off x="685800" y="401436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Text 10"/>
          <p:cNvSpPr/>
          <p:nvPr/>
        </p:nvSpPr>
        <p:spPr>
          <a:xfrm>
            <a:off x="960120" y="3831480"/>
            <a:ext cx="603468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450" spc="-1" strike="noStrike">
                <a:solidFill>
                  <a:srgbClr val="1e2a3a"/>
                </a:solidFill>
                <a:latin typeface="Calibri"/>
                <a:ea typeface="Calibri"/>
              </a:rPr>
              <a:t>It binds the I2C address before your custom module is even inserted</a:t>
            </a:r>
            <a:endParaRPr b="0" lang="en-IN" sz="1450" spc="-1" strike="noStrike">
              <a:latin typeface="Arial"/>
            </a:endParaRPr>
          </a:p>
        </p:txBody>
      </p:sp>
      <p:sp>
        <p:nvSpPr>
          <p:cNvPr id="171" name="Shape 11"/>
          <p:cNvSpPr/>
          <p:nvPr/>
        </p:nvSpPr>
        <p:spPr>
          <a:xfrm>
            <a:off x="7680960" y="1783080"/>
            <a:ext cx="3748680" cy="594000"/>
          </a:xfrm>
          <a:prstGeom prst="roundRect">
            <a:avLst>
              <a:gd name="adj" fmla="val 10769"/>
            </a:avLst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Text 12"/>
          <p:cNvSpPr/>
          <p:nvPr/>
        </p:nvSpPr>
        <p:spPr>
          <a:xfrm>
            <a:off x="7818120" y="178308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a3a"/>
                </a:solidFill>
                <a:latin typeface="Calibri"/>
                <a:ea typeface="Calibri"/>
              </a:rPr>
              <a:t>Overlay Loaded</a:t>
            </a:r>
            <a:endParaRPr b="0" lang="en-IN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a3a"/>
                </a:solidFill>
                <a:latin typeface="Calibri"/>
                <a:ea typeface="Calibri"/>
              </a:rPr>
              <a:t>(dtoverlay=imx219)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3" name="Text 13"/>
          <p:cNvSpPr/>
          <p:nvPr/>
        </p:nvSpPr>
        <p:spPr>
          <a:xfrm>
            <a:off x="9372600" y="2340720"/>
            <a:ext cx="365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64748b"/>
                </a:solidFill>
                <a:latin typeface="Calibri"/>
              </a:rPr>
              <a:t>↓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4" name="Shape 14"/>
          <p:cNvSpPr/>
          <p:nvPr/>
        </p:nvSpPr>
        <p:spPr>
          <a:xfrm>
            <a:off x="7680960" y="2670120"/>
            <a:ext cx="3748680" cy="594000"/>
          </a:xfrm>
          <a:prstGeom prst="roundRect">
            <a:avLst>
              <a:gd name="adj" fmla="val 10769"/>
            </a:avLst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15"/>
          <p:cNvSpPr/>
          <p:nvPr/>
        </p:nvSpPr>
        <p:spPr>
          <a:xfrm>
            <a:off x="7818120" y="267012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a3a"/>
                </a:solidFill>
                <a:latin typeface="Calibri"/>
                <a:ea typeface="Calibri"/>
              </a:rPr>
              <a:t>Compatible String</a:t>
            </a:r>
            <a:endParaRPr b="0" lang="en-IN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a3a"/>
                </a:solidFill>
                <a:latin typeface="Calibri"/>
                <a:ea typeface="Calibri"/>
              </a:rPr>
              <a:t>Matched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6" name="Text 16"/>
          <p:cNvSpPr/>
          <p:nvPr/>
        </p:nvSpPr>
        <p:spPr>
          <a:xfrm>
            <a:off x="9372600" y="3227760"/>
            <a:ext cx="365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64748b"/>
                </a:solidFill>
                <a:latin typeface="Calibri"/>
              </a:rPr>
              <a:t>↓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77" name="Shape 17"/>
          <p:cNvSpPr/>
          <p:nvPr/>
        </p:nvSpPr>
        <p:spPr>
          <a:xfrm>
            <a:off x="7680960" y="3557160"/>
            <a:ext cx="3748680" cy="594000"/>
          </a:xfrm>
          <a:prstGeom prst="roundRect">
            <a:avLst>
              <a:gd name="adj" fmla="val 10769"/>
            </a:avLst>
          </a:prstGeom>
          <a:solidFill>
            <a:srgbClr val="eaf4f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Text 18"/>
          <p:cNvSpPr/>
          <p:nvPr/>
        </p:nvSpPr>
        <p:spPr>
          <a:xfrm>
            <a:off x="7818120" y="3557160"/>
            <a:ext cx="3474360" cy="594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a3a"/>
                </a:solidFill>
                <a:latin typeface="Calibri"/>
                <a:ea typeface="Calibri"/>
              </a:rPr>
              <a:t>imx219.ko Probes</a:t>
            </a:r>
            <a:endParaRPr b="0" lang="en-IN" sz="11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50" spc="-1" strike="noStrike">
                <a:solidFill>
                  <a:srgbClr val="1e2a3a"/>
                </a:solidFill>
                <a:latin typeface="Calibri"/>
                <a:ea typeface="Calibri"/>
              </a:rPr>
              <a:t>First</a:t>
            </a:r>
            <a:endParaRPr b="0" lang="en-IN" sz="1150" spc="-1" strike="noStrike">
              <a:latin typeface="Arial"/>
            </a:endParaRPr>
          </a:p>
        </p:txBody>
      </p:sp>
      <p:sp>
        <p:nvSpPr>
          <p:cNvPr id="179" name="Text 19"/>
          <p:cNvSpPr/>
          <p:nvPr/>
        </p:nvSpPr>
        <p:spPr>
          <a:xfrm>
            <a:off x="9372600" y="4114800"/>
            <a:ext cx="36540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64748b"/>
                </a:solidFill>
                <a:latin typeface="Calibri"/>
              </a:rPr>
              <a:t>↓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80" name="Shape 20"/>
          <p:cNvSpPr/>
          <p:nvPr/>
        </p:nvSpPr>
        <p:spPr>
          <a:xfrm>
            <a:off x="7680960" y="4443840"/>
            <a:ext cx="3748680" cy="639720"/>
          </a:xfrm>
          <a:prstGeom prst="roundRect">
            <a:avLst>
              <a:gd name="adj" fmla="val 50000"/>
            </a:avLst>
          </a:prstGeom>
          <a:solidFill>
            <a:srgbClr val="e87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1" name="Shape 21"/>
          <p:cNvSpPr/>
          <p:nvPr/>
        </p:nvSpPr>
        <p:spPr>
          <a:xfrm>
            <a:off x="7845480" y="4517280"/>
            <a:ext cx="493560" cy="493560"/>
          </a:xfrm>
          <a:prstGeom prst="ellipse">
            <a:avLst/>
          </a:prstGeom>
          <a:solidFill>
            <a:srgbClr val="b8553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182" name="Image 0" descr="preencoded.png"/>
          <p:cNvPicPr/>
          <p:nvPr/>
        </p:nvPicPr>
        <p:blipFill>
          <a:blip r:embed="rId1"/>
          <a:stretch/>
        </p:blipFill>
        <p:spPr>
          <a:xfrm>
            <a:off x="7914600" y="4586400"/>
            <a:ext cx="355320" cy="355320"/>
          </a:xfrm>
          <a:prstGeom prst="rect">
            <a:avLst/>
          </a:prstGeom>
          <a:ln w="0">
            <a:noFill/>
          </a:ln>
        </p:spPr>
      </p:pic>
      <p:sp>
        <p:nvSpPr>
          <p:cNvPr id="183" name="Text 22"/>
          <p:cNvSpPr/>
          <p:nvPr/>
        </p:nvSpPr>
        <p:spPr>
          <a:xfrm>
            <a:off x="8458200" y="4443840"/>
            <a:ext cx="283428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-1" strike="noStrike">
                <a:solidFill>
                  <a:srgbClr val="ffffff"/>
                </a:solidFill>
                <a:latin typeface="Calibri"/>
                <a:ea typeface="Calibri"/>
              </a:rPr>
              <a:t>Sensor Owned — Your Probe Is Skipped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184" name="Text 23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185" name="Text 24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6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Text 0"/>
          <p:cNvSpPr/>
          <p:nvPr/>
        </p:nvSpPr>
        <p:spPr>
          <a:xfrm>
            <a:off x="50292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Calibri"/>
                <a:ea typeface="Calibri"/>
              </a:rPr>
              <a:t>OBJECTIVE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187" name="Text 1"/>
          <p:cNvSpPr/>
          <p:nvPr/>
        </p:nvSpPr>
        <p:spPr>
          <a:xfrm>
            <a:off x="457200" y="658440"/>
            <a:ext cx="1124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b5d75"/>
                </a:solidFill>
                <a:latin typeface="Cambria"/>
                <a:ea typeface="Cambria"/>
              </a:rPr>
              <a:t>Goal: Redirect Ownership to Your Driver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188" name="Text 2"/>
          <p:cNvSpPr/>
          <p:nvPr/>
        </p:nvSpPr>
        <p:spPr>
          <a:xfrm>
            <a:off x="50292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Change which probe() the kernel calls — not how the kernel itself works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189" name="Shape 3"/>
          <p:cNvSpPr/>
          <p:nvPr/>
        </p:nvSpPr>
        <p:spPr>
          <a:xfrm>
            <a:off x="731520" y="1874520"/>
            <a:ext cx="4571640" cy="566640"/>
          </a:xfrm>
          <a:prstGeom prst="roundRect">
            <a:avLst>
              <a:gd name="adj" fmla="val 12903"/>
            </a:avLst>
          </a:prstGeom>
          <a:solidFill>
            <a:srgbClr val="64748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Text 4"/>
          <p:cNvSpPr/>
          <p:nvPr/>
        </p:nvSpPr>
        <p:spPr>
          <a:xfrm>
            <a:off x="731520" y="1874520"/>
            <a:ext cx="4571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DEFAULT FLOW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191" name="Shape 5"/>
          <p:cNvSpPr/>
          <p:nvPr/>
        </p:nvSpPr>
        <p:spPr>
          <a:xfrm>
            <a:off x="731520" y="2560320"/>
            <a:ext cx="4571640" cy="3200040"/>
          </a:xfrm>
          <a:prstGeom prst="roundRect">
            <a:avLst>
              <a:gd name="adj" fmla="val 2286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2" name="Text 6"/>
          <p:cNvSpPr/>
          <p:nvPr/>
        </p:nvSpPr>
        <p:spPr>
          <a:xfrm>
            <a:off x="1051560" y="278892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a3a"/>
                </a:solidFill>
                <a:latin typeface="Calibri"/>
                <a:ea typeface="Calibri"/>
              </a:rPr>
              <a:t>compatible = "sony,imx219"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3" name="Text 7"/>
          <p:cNvSpPr/>
          <p:nvPr/>
        </p:nvSpPr>
        <p:spPr>
          <a:xfrm>
            <a:off x="2834640" y="32004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64748b"/>
                </a:solidFill>
                <a:latin typeface="Calibri"/>
              </a:rPr>
              <a:t>↓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4" name="Text 8"/>
          <p:cNvSpPr/>
          <p:nvPr/>
        </p:nvSpPr>
        <p:spPr>
          <a:xfrm>
            <a:off x="1051560" y="356616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a3a"/>
                </a:solidFill>
                <a:latin typeface="Calibri"/>
                <a:ea typeface="Calibri"/>
              </a:rPr>
              <a:t>Official imx219 driver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5" name="Text 9"/>
          <p:cNvSpPr/>
          <p:nvPr/>
        </p:nvSpPr>
        <p:spPr>
          <a:xfrm>
            <a:off x="2834640" y="39776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64748b"/>
                </a:solidFill>
                <a:latin typeface="Calibri"/>
              </a:rPr>
              <a:t>↓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6" name="Text 10"/>
          <p:cNvSpPr/>
          <p:nvPr/>
        </p:nvSpPr>
        <p:spPr>
          <a:xfrm>
            <a:off x="1051560" y="434340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a3a"/>
                </a:solidFill>
                <a:latin typeface="Calibri"/>
                <a:ea typeface="Calibri"/>
              </a:rPr>
              <a:t>probe() runs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7" name="Text 11"/>
          <p:cNvSpPr/>
          <p:nvPr/>
        </p:nvSpPr>
        <p:spPr>
          <a:xfrm>
            <a:off x="2834640" y="47548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64748b"/>
                </a:solidFill>
                <a:latin typeface="Calibri"/>
              </a:rPr>
              <a:t>↓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198" name="Text 12"/>
          <p:cNvSpPr/>
          <p:nvPr/>
        </p:nvSpPr>
        <p:spPr>
          <a:xfrm>
            <a:off x="1051560" y="512064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a3a"/>
                </a:solidFill>
                <a:latin typeface="Calibri"/>
                <a:ea typeface="Calibri"/>
              </a:rPr>
              <a:t>V4L2 → libcamera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199" name="Shape 13"/>
          <p:cNvSpPr/>
          <p:nvPr/>
        </p:nvSpPr>
        <p:spPr>
          <a:xfrm>
            <a:off x="6903720" y="1874520"/>
            <a:ext cx="4571640" cy="566640"/>
          </a:xfrm>
          <a:prstGeom prst="roundRect">
            <a:avLst>
              <a:gd name="adj" fmla="val 12903"/>
            </a:avLst>
          </a:prstGeom>
          <a:solidFill>
            <a:srgbClr val="2e9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0" name="Text 14"/>
          <p:cNvSpPr/>
          <p:nvPr/>
        </p:nvSpPr>
        <p:spPr>
          <a:xfrm>
            <a:off x="6903720" y="1874520"/>
            <a:ext cx="45716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500" spc="-1" strike="noStrike">
                <a:solidFill>
                  <a:srgbClr val="ffffff"/>
                </a:solidFill>
                <a:latin typeface="Cambria"/>
                <a:ea typeface="Cambria"/>
              </a:rPr>
              <a:t>DESIRED FLOW</a:t>
            </a:r>
            <a:endParaRPr b="0" lang="en-IN" sz="1500" spc="-1" strike="noStrike">
              <a:latin typeface="Arial"/>
            </a:endParaRPr>
          </a:p>
        </p:txBody>
      </p:sp>
      <p:sp>
        <p:nvSpPr>
          <p:cNvPr id="201" name="Shape 15"/>
          <p:cNvSpPr/>
          <p:nvPr/>
        </p:nvSpPr>
        <p:spPr>
          <a:xfrm>
            <a:off x="6903720" y="2560320"/>
            <a:ext cx="4571640" cy="3200040"/>
          </a:xfrm>
          <a:prstGeom prst="roundRect">
            <a:avLst>
              <a:gd name="adj" fmla="val 2286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Text 16"/>
          <p:cNvSpPr/>
          <p:nvPr/>
        </p:nvSpPr>
        <p:spPr>
          <a:xfrm>
            <a:off x="7223760" y="278892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a3a"/>
                </a:solidFill>
                <a:latin typeface="Calibri"/>
                <a:ea typeface="Calibri"/>
              </a:rPr>
              <a:t>compatible = "mycompany,my-imx219"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3" name="Text 17"/>
          <p:cNvSpPr/>
          <p:nvPr/>
        </p:nvSpPr>
        <p:spPr>
          <a:xfrm>
            <a:off x="9006840" y="320040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64748b"/>
                </a:solidFill>
                <a:latin typeface="Calibri"/>
              </a:rPr>
              <a:t>↓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4" name="Text 18"/>
          <p:cNvSpPr/>
          <p:nvPr/>
        </p:nvSpPr>
        <p:spPr>
          <a:xfrm>
            <a:off x="7223760" y="356616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a3a"/>
                </a:solidFill>
                <a:latin typeface="Calibri"/>
                <a:ea typeface="Calibri"/>
              </a:rPr>
              <a:t>myCameraDriver.ko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5" name="Text 19"/>
          <p:cNvSpPr/>
          <p:nvPr/>
        </p:nvSpPr>
        <p:spPr>
          <a:xfrm>
            <a:off x="9006840" y="397764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64748b"/>
                </a:solidFill>
                <a:latin typeface="Calibri"/>
              </a:rPr>
              <a:t>↓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6" name="Text 20"/>
          <p:cNvSpPr/>
          <p:nvPr/>
        </p:nvSpPr>
        <p:spPr>
          <a:xfrm>
            <a:off x="7223760" y="434340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a3a"/>
                </a:solidFill>
                <a:latin typeface="Calibri"/>
                <a:ea typeface="Calibri"/>
              </a:rPr>
              <a:t>probe() runs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7" name="Text 21"/>
          <p:cNvSpPr/>
          <p:nvPr/>
        </p:nvSpPr>
        <p:spPr>
          <a:xfrm>
            <a:off x="9006840" y="4754880"/>
            <a:ext cx="3654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600" spc="-1" strike="noStrike">
                <a:solidFill>
                  <a:srgbClr val="64748b"/>
                </a:solidFill>
                <a:latin typeface="Calibri"/>
              </a:rPr>
              <a:t>↓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208" name="Text 22"/>
          <p:cNvSpPr/>
          <p:nvPr/>
        </p:nvSpPr>
        <p:spPr>
          <a:xfrm>
            <a:off x="7223760" y="5120640"/>
            <a:ext cx="3931560" cy="41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-1" strike="noStrike">
                <a:solidFill>
                  <a:srgbClr val="1e2a3a"/>
                </a:solidFill>
                <a:latin typeface="Calibri"/>
                <a:ea typeface="Calibri"/>
              </a:rPr>
              <a:t>Direct register access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09" name="Shape 23"/>
          <p:cNvSpPr/>
          <p:nvPr/>
        </p:nvSpPr>
        <p:spPr>
          <a:xfrm>
            <a:off x="5592960" y="3383280"/>
            <a:ext cx="1005480" cy="10054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10" name="Image 0" descr="preencoded.png"/>
          <p:cNvPicPr/>
          <p:nvPr/>
        </p:nvPicPr>
        <p:blipFill>
          <a:blip r:embed="rId1"/>
          <a:stretch/>
        </p:blipFill>
        <p:spPr>
          <a:xfrm>
            <a:off x="5743800" y="3534120"/>
            <a:ext cx="703800" cy="703800"/>
          </a:xfrm>
          <a:prstGeom prst="rect">
            <a:avLst/>
          </a:prstGeom>
          <a:ln w="0">
            <a:noFill/>
          </a:ln>
        </p:spPr>
      </p:pic>
      <p:sp>
        <p:nvSpPr>
          <p:cNvPr id="211" name="Shape 24"/>
          <p:cNvSpPr/>
          <p:nvPr/>
        </p:nvSpPr>
        <p:spPr>
          <a:xfrm>
            <a:off x="5565600" y="3355920"/>
            <a:ext cx="1060200" cy="1060200"/>
          </a:xfrm>
          <a:prstGeom prst="ellipse">
            <a:avLst/>
          </a:prstGeom>
          <a:noFill/>
          <a:ln w="25400">
            <a:solidFill>
              <a:srgbClr val="e8743b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2" name="Text 25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13" name="Text 26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7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Text 0"/>
          <p:cNvSpPr/>
          <p:nvPr/>
        </p:nvSpPr>
        <p:spPr>
          <a:xfrm>
            <a:off x="50292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Calibri"/>
                <a:ea typeface="Calibri"/>
              </a:rPr>
              <a:t>BYPASS METHOD 1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15" name="Text 1"/>
          <p:cNvSpPr/>
          <p:nvPr/>
        </p:nvSpPr>
        <p:spPr>
          <a:xfrm>
            <a:off x="457200" y="658440"/>
            <a:ext cx="1124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b5d75"/>
                </a:solidFill>
                <a:latin typeface="Cambria"/>
                <a:ea typeface="Cambria"/>
              </a:rPr>
              <a:t>Unload or Blacklist the Module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16" name="Text 2"/>
          <p:cNvSpPr/>
          <p:nvPr/>
        </p:nvSpPr>
        <p:spPr>
          <a:xfrm>
            <a:off x="50292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Best for fast iteration during development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17" name="Shape 3"/>
          <p:cNvSpPr/>
          <p:nvPr/>
        </p:nvSpPr>
        <p:spPr>
          <a:xfrm>
            <a:off x="685800" y="217620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8" name="Text 4"/>
          <p:cNvSpPr/>
          <p:nvPr/>
        </p:nvSpPr>
        <p:spPr>
          <a:xfrm>
            <a:off x="960120" y="197496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e2a3a"/>
                </a:solidFill>
                <a:latin typeface="Calibri"/>
                <a:ea typeface="Calibri"/>
              </a:rPr>
              <a:t>Works when the official driver is built as a loadable kernel module (imx219.ko)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19" name="Shape 5"/>
          <p:cNvSpPr/>
          <p:nvPr/>
        </p:nvSpPr>
        <p:spPr>
          <a:xfrm>
            <a:off x="685800" y="304488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0" name="Text 6"/>
          <p:cNvSpPr/>
          <p:nvPr/>
        </p:nvSpPr>
        <p:spPr>
          <a:xfrm>
            <a:off x="960120" y="284364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e2a3a"/>
                </a:solidFill>
                <a:latin typeface="Calibri"/>
                <a:ea typeface="Calibri"/>
              </a:rPr>
              <a:t>Quick to test, but doesn't survive a reboot unless the module is blacklisted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21" name="Shape 7"/>
          <p:cNvSpPr/>
          <p:nvPr/>
        </p:nvSpPr>
        <p:spPr>
          <a:xfrm>
            <a:off x="685800" y="391356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2" name="Text 8"/>
          <p:cNvSpPr/>
          <p:nvPr/>
        </p:nvSpPr>
        <p:spPr>
          <a:xfrm>
            <a:off x="960120" y="371232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e2a3a"/>
                </a:solidFill>
                <a:latin typeface="Calibri"/>
                <a:ea typeface="Calibri"/>
              </a:rPr>
              <a:t>Good first step before committing to a Device Tree change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23" name="Shape 9"/>
          <p:cNvSpPr/>
          <p:nvPr/>
        </p:nvSpPr>
        <p:spPr>
          <a:xfrm>
            <a:off x="5943600" y="1874520"/>
            <a:ext cx="5577480" cy="3840120"/>
          </a:xfrm>
          <a:prstGeom prst="roundRect">
            <a:avLst>
              <a:gd name="adj" fmla="val 2143"/>
            </a:avLst>
          </a:prstGeom>
          <a:solidFill>
            <a:srgbClr val="0e1b2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24" name="Shape 10"/>
          <p:cNvSpPr/>
          <p:nvPr/>
        </p:nvSpPr>
        <p:spPr>
          <a:xfrm>
            <a:off x="6172200" y="2075760"/>
            <a:ext cx="145800" cy="145800"/>
          </a:xfrm>
          <a:prstGeom prst="ellipse">
            <a:avLst/>
          </a:prstGeom>
          <a:solidFill>
            <a:srgbClr val="e87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5" name="Shape 11"/>
          <p:cNvSpPr/>
          <p:nvPr/>
        </p:nvSpPr>
        <p:spPr>
          <a:xfrm>
            <a:off x="6400800" y="2075760"/>
            <a:ext cx="145800" cy="145800"/>
          </a:xfrm>
          <a:prstGeom prst="ellipse">
            <a:avLst/>
          </a:prstGeom>
          <a:solidFill>
            <a:srgbClr val="e8c1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6" name="Shape 12"/>
          <p:cNvSpPr/>
          <p:nvPr/>
        </p:nvSpPr>
        <p:spPr>
          <a:xfrm>
            <a:off x="6629400" y="2075760"/>
            <a:ext cx="145800" cy="145800"/>
          </a:xfrm>
          <a:prstGeom prst="ellipse">
            <a:avLst/>
          </a:prstGeom>
          <a:solidFill>
            <a:srgbClr val="2e9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27" name="Text 13"/>
          <p:cNvSpPr/>
          <p:nvPr/>
        </p:nvSpPr>
        <p:spPr>
          <a:xfrm>
            <a:off x="6217920" y="2423160"/>
            <a:ext cx="50288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$ lsmod | grep imx219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$ sudo modprobe -r imx219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fa0b5"/>
                </a:solidFill>
                <a:latin typeface="Courier New"/>
                <a:ea typeface="Courier New"/>
              </a:rPr>
              <a:t># Make it permanent across reboots: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$ echo "blacklist imx219" | \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    </a:t>
            </a: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sudo tee /etc/modprobe.d/blacklist-imx219.conf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$ sudo insmod myCameraDriver.ko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$ dmesg | tail -n 20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28" name="Text 14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29" name="Text 15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8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Text 0"/>
          <p:cNvSpPr/>
          <p:nvPr/>
        </p:nvSpPr>
        <p:spPr>
          <a:xfrm>
            <a:off x="50292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Calibri"/>
                <a:ea typeface="Calibri"/>
              </a:rPr>
              <a:t>BYPASS METHOD 2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31" name="Text 1"/>
          <p:cNvSpPr/>
          <p:nvPr/>
        </p:nvSpPr>
        <p:spPr>
          <a:xfrm>
            <a:off x="457200" y="658440"/>
            <a:ext cx="1124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b5d75"/>
                </a:solidFill>
                <a:latin typeface="Cambria"/>
                <a:ea typeface="Cambria"/>
              </a:rPr>
              <a:t>Disable Auto-Detect &amp; the Camera Overlay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32" name="Text 2"/>
          <p:cNvSpPr/>
          <p:nvPr/>
        </p:nvSpPr>
        <p:spPr>
          <a:xfrm>
            <a:off x="50292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Most reliable for headless or production boards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33" name="Shape 3"/>
          <p:cNvSpPr/>
          <p:nvPr/>
        </p:nvSpPr>
        <p:spPr>
          <a:xfrm>
            <a:off x="685800" y="217620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4" name="Text 4"/>
          <p:cNvSpPr/>
          <p:nvPr/>
        </p:nvSpPr>
        <p:spPr>
          <a:xfrm>
            <a:off x="960120" y="197496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e2a3a"/>
                </a:solidFill>
                <a:latin typeface="Calibri"/>
                <a:ea typeface="Calibri"/>
              </a:rPr>
              <a:t>camera_auto_detect automatically loads the official overlay at boot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35" name="Shape 5"/>
          <p:cNvSpPr/>
          <p:nvPr/>
        </p:nvSpPr>
        <p:spPr>
          <a:xfrm>
            <a:off x="685800" y="304488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6" name="Text 6"/>
          <p:cNvSpPr/>
          <p:nvPr/>
        </p:nvSpPr>
        <p:spPr>
          <a:xfrm>
            <a:off x="960120" y="284364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e2a3a"/>
                </a:solidFill>
                <a:latin typeface="Calibri"/>
                <a:ea typeface="Calibri"/>
              </a:rPr>
              <a:t>Editing the boot config stops the overlay from ever being applied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37" name="Shape 7"/>
          <p:cNvSpPr/>
          <p:nvPr/>
        </p:nvSpPr>
        <p:spPr>
          <a:xfrm>
            <a:off x="685800" y="3913560"/>
            <a:ext cx="127800" cy="1278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38" name="Text 8"/>
          <p:cNvSpPr/>
          <p:nvPr/>
        </p:nvSpPr>
        <p:spPr>
          <a:xfrm>
            <a:off x="960120" y="3712320"/>
            <a:ext cx="45716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50" spc="-1" strike="noStrike">
                <a:solidFill>
                  <a:srgbClr val="1e2a3a"/>
                </a:solidFill>
                <a:latin typeface="Calibri"/>
                <a:ea typeface="Calibri"/>
              </a:rPr>
              <a:t>Survives reboots without needing a blacklist file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39" name="Shape 9"/>
          <p:cNvSpPr/>
          <p:nvPr/>
        </p:nvSpPr>
        <p:spPr>
          <a:xfrm>
            <a:off x="5943600" y="1874520"/>
            <a:ext cx="5577480" cy="3840120"/>
          </a:xfrm>
          <a:prstGeom prst="roundRect">
            <a:avLst>
              <a:gd name="adj" fmla="val 2143"/>
            </a:avLst>
          </a:prstGeom>
          <a:solidFill>
            <a:srgbClr val="0e1b2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0" name="Shape 10"/>
          <p:cNvSpPr/>
          <p:nvPr/>
        </p:nvSpPr>
        <p:spPr>
          <a:xfrm>
            <a:off x="6172200" y="2075760"/>
            <a:ext cx="145800" cy="145800"/>
          </a:xfrm>
          <a:prstGeom prst="ellipse">
            <a:avLst/>
          </a:prstGeom>
          <a:solidFill>
            <a:srgbClr val="e87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1" name="Shape 11"/>
          <p:cNvSpPr/>
          <p:nvPr/>
        </p:nvSpPr>
        <p:spPr>
          <a:xfrm>
            <a:off x="6400800" y="2075760"/>
            <a:ext cx="145800" cy="145800"/>
          </a:xfrm>
          <a:prstGeom prst="ellipse">
            <a:avLst/>
          </a:prstGeom>
          <a:solidFill>
            <a:srgbClr val="e8c1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2" name="Shape 12"/>
          <p:cNvSpPr/>
          <p:nvPr/>
        </p:nvSpPr>
        <p:spPr>
          <a:xfrm>
            <a:off x="6629400" y="2075760"/>
            <a:ext cx="145800" cy="145800"/>
          </a:xfrm>
          <a:prstGeom prst="ellipse">
            <a:avLst/>
          </a:prstGeom>
          <a:solidFill>
            <a:srgbClr val="2e9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43" name="Text 13"/>
          <p:cNvSpPr/>
          <p:nvPr/>
        </p:nvSpPr>
        <p:spPr>
          <a:xfrm>
            <a:off x="6217920" y="2423160"/>
            <a:ext cx="5028840" cy="310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$ sudo nano /boot/firmware/config.txt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fa0b5"/>
                </a:solidFill>
                <a:latin typeface="Courier New"/>
                <a:ea typeface="Courier New"/>
              </a:rPr>
              <a:t># Comment out or set to 0: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camera_auto_detect=0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fa0b5"/>
                </a:solidFill>
                <a:latin typeface="Courier New"/>
                <a:ea typeface="Courier New"/>
              </a:rPr>
              <a:t># Remove this line if present: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fa0b5"/>
                </a:solidFill>
                <a:latin typeface="Courier New"/>
                <a:ea typeface="Courier New"/>
              </a:rPr>
              <a:t># dtoverlay=imx219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6fa0b5"/>
                </a:solidFill>
                <a:latin typeface="Courier New"/>
                <a:ea typeface="Courier New"/>
              </a:rPr>
              <a:t># Add your own overlay: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dtoverlay=myCameraDriver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$ sudo reboot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44" name="Text 14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45" name="Text 15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9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Text 0"/>
          <p:cNvSpPr/>
          <p:nvPr/>
        </p:nvSpPr>
        <p:spPr>
          <a:xfrm>
            <a:off x="50292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Calibri"/>
                <a:ea typeface="Calibri"/>
              </a:rPr>
              <a:t>BYPASS METHOD 3 — RECOMMENDED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47" name="Text 1"/>
          <p:cNvSpPr/>
          <p:nvPr/>
        </p:nvSpPr>
        <p:spPr>
          <a:xfrm>
            <a:off x="457200" y="658440"/>
            <a:ext cx="1124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b5d75"/>
                </a:solidFill>
                <a:latin typeface="Cambria"/>
                <a:ea typeface="Cambria"/>
              </a:rPr>
              <a:t>Custom Compatible String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48" name="Text 2"/>
          <p:cNvSpPr/>
          <p:nvPr/>
        </p:nvSpPr>
        <p:spPr>
          <a:xfrm>
            <a:off x="50292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The cleanest fix: the kernel never even considers the official driver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49" name="Text 3"/>
          <p:cNvSpPr/>
          <p:nvPr/>
        </p:nvSpPr>
        <p:spPr>
          <a:xfrm>
            <a:off x="640080" y="1828800"/>
            <a:ext cx="5348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64748b"/>
                </a:solidFill>
                <a:latin typeface="Calibri"/>
                <a:ea typeface="Calibri"/>
              </a:rPr>
              <a:t>Official Device Tree Node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50" name="Shape 4"/>
          <p:cNvSpPr/>
          <p:nvPr/>
        </p:nvSpPr>
        <p:spPr>
          <a:xfrm>
            <a:off x="640080" y="2194560"/>
            <a:ext cx="5348880" cy="3200040"/>
          </a:xfrm>
          <a:prstGeom prst="roundRect">
            <a:avLst>
              <a:gd name="adj" fmla="val 2571"/>
            </a:avLst>
          </a:prstGeom>
          <a:solidFill>
            <a:srgbClr val="0e1b2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1" name="Shape 5"/>
          <p:cNvSpPr/>
          <p:nvPr/>
        </p:nvSpPr>
        <p:spPr>
          <a:xfrm>
            <a:off x="868680" y="2395800"/>
            <a:ext cx="145800" cy="145800"/>
          </a:xfrm>
          <a:prstGeom prst="ellipse">
            <a:avLst/>
          </a:prstGeom>
          <a:solidFill>
            <a:srgbClr val="e87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2" name="Shape 6"/>
          <p:cNvSpPr/>
          <p:nvPr/>
        </p:nvSpPr>
        <p:spPr>
          <a:xfrm>
            <a:off x="1097280" y="2395800"/>
            <a:ext cx="145800" cy="145800"/>
          </a:xfrm>
          <a:prstGeom prst="ellipse">
            <a:avLst/>
          </a:prstGeom>
          <a:solidFill>
            <a:srgbClr val="e8c1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3" name="Shape 7"/>
          <p:cNvSpPr/>
          <p:nvPr/>
        </p:nvSpPr>
        <p:spPr>
          <a:xfrm>
            <a:off x="1325880" y="2395800"/>
            <a:ext cx="145800" cy="145800"/>
          </a:xfrm>
          <a:prstGeom prst="ellipse">
            <a:avLst/>
          </a:prstGeom>
          <a:solidFill>
            <a:srgbClr val="2e9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4" name="Text 8"/>
          <p:cNvSpPr/>
          <p:nvPr/>
        </p:nvSpPr>
        <p:spPr>
          <a:xfrm>
            <a:off x="914400" y="2743200"/>
            <a:ext cx="48002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imx219@10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compatible = "sony,imx219";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reg = &lt;0x10&gt;;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clocks = &lt;&amp;cam_clk&gt;;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...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};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55" name="Text 9"/>
          <p:cNvSpPr/>
          <p:nvPr/>
        </p:nvSpPr>
        <p:spPr>
          <a:xfrm>
            <a:off x="6263640" y="1828800"/>
            <a:ext cx="534888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2e9e6b"/>
                </a:solidFill>
                <a:latin typeface="Calibri"/>
                <a:ea typeface="Calibri"/>
              </a:rPr>
              <a:t>Your Driver's Match Table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56" name="Shape 10"/>
          <p:cNvSpPr/>
          <p:nvPr/>
        </p:nvSpPr>
        <p:spPr>
          <a:xfrm>
            <a:off x="6263640" y="2194560"/>
            <a:ext cx="5348880" cy="3200040"/>
          </a:xfrm>
          <a:prstGeom prst="roundRect">
            <a:avLst>
              <a:gd name="adj" fmla="val 2571"/>
            </a:avLst>
          </a:prstGeom>
          <a:solidFill>
            <a:srgbClr val="0e1b26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7" name="Shape 11"/>
          <p:cNvSpPr/>
          <p:nvPr/>
        </p:nvSpPr>
        <p:spPr>
          <a:xfrm>
            <a:off x="6492240" y="2395800"/>
            <a:ext cx="145800" cy="145800"/>
          </a:xfrm>
          <a:prstGeom prst="ellipse">
            <a:avLst/>
          </a:prstGeom>
          <a:solidFill>
            <a:srgbClr val="e874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8" name="Shape 12"/>
          <p:cNvSpPr/>
          <p:nvPr/>
        </p:nvSpPr>
        <p:spPr>
          <a:xfrm>
            <a:off x="6720840" y="2395800"/>
            <a:ext cx="145800" cy="145800"/>
          </a:xfrm>
          <a:prstGeom prst="ellipse">
            <a:avLst/>
          </a:prstGeom>
          <a:solidFill>
            <a:srgbClr val="e8c13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59" name="Shape 13"/>
          <p:cNvSpPr/>
          <p:nvPr/>
        </p:nvSpPr>
        <p:spPr>
          <a:xfrm>
            <a:off x="6949440" y="2395800"/>
            <a:ext cx="145800" cy="145800"/>
          </a:xfrm>
          <a:prstGeom prst="ellipse">
            <a:avLst/>
          </a:prstGeom>
          <a:solidFill>
            <a:srgbClr val="2e9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0" name="Text 14"/>
          <p:cNvSpPr/>
          <p:nvPr/>
        </p:nvSpPr>
        <p:spPr>
          <a:xfrm>
            <a:off x="6537960" y="2743200"/>
            <a:ext cx="4800240" cy="24685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static const struct of_device_id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my_match[] = {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{ .compatible =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      </a:t>
            </a: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"mycompany,my-imx219" },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  </a:t>
            </a: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{ }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};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3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bfe9c9"/>
                </a:solidFill>
                <a:latin typeface="Courier New"/>
                <a:ea typeface="Courier New"/>
              </a:rPr>
              <a:t>MODULE_DEVICE_TABLE(of, my_match);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61" name="Shape 15"/>
          <p:cNvSpPr/>
          <p:nvPr/>
        </p:nvSpPr>
        <p:spPr>
          <a:xfrm>
            <a:off x="640080" y="5623560"/>
            <a:ext cx="10972440" cy="56664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62" name="Shape 16"/>
          <p:cNvSpPr/>
          <p:nvPr/>
        </p:nvSpPr>
        <p:spPr>
          <a:xfrm>
            <a:off x="777240" y="5678280"/>
            <a:ext cx="456840" cy="456840"/>
          </a:xfrm>
          <a:prstGeom prst="ellipse">
            <a:avLst/>
          </a:prstGeom>
          <a:solidFill>
            <a:srgbClr val="1f7a52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263" name="Image 0" descr="preencoded.png"/>
          <p:cNvPicPr/>
          <p:nvPr/>
        </p:nvPicPr>
        <p:blipFill>
          <a:blip r:embed="rId1"/>
          <a:stretch/>
        </p:blipFill>
        <p:spPr>
          <a:xfrm>
            <a:off x="836640" y="573804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264" name="Text 17"/>
          <p:cNvSpPr/>
          <p:nvPr/>
        </p:nvSpPr>
        <p:spPr>
          <a:xfrm>
            <a:off x="1371600" y="5623560"/>
            <a:ext cx="1005804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ffffff"/>
                </a:solidFill>
                <a:latin typeface="Calibri"/>
                <a:ea typeface="Calibri"/>
              </a:rPr>
              <a:t>Kernel now matches ONLY your driver for this node — no module unloading required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265" name="Text 18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66" name="Text 19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10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Text 0"/>
          <p:cNvSpPr/>
          <p:nvPr/>
        </p:nvSpPr>
        <p:spPr>
          <a:xfrm>
            <a:off x="50292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Calibri"/>
                <a:ea typeface="Calibri"/>
              </a:rPr>
              <a:t>VERIFICATION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68" name="Text 1"/>
          <p:cNvSpPr/>
          <p:nvPr/>
        </p:nvSpPr>
        <p:spPr>
          <a:xfrm>
            <a:off x="457200" y="658440"/>
            <a:ext cx="1124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b5d75"/>
                </a:solidFill>
                <a:latin typeface="Cambria"/>
                <a:ea typeface="Cambria"/>
              </a:rPr>
              <a:t>Loading &amp; Verifying the Custom Driver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69" name="Text 2"/>
          <p:cNvSpPr/>
          <p:nvPr/>
        </p:nvSpPr>
        <p:spPr>
          <a:xfrm>
            <a:off x="50292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Five quick checks confirm the bypass actually worked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270" name="Shape 3"/>
          <p:cNvSpPr/>
          <p:nvPr/>
        </p:nvSpPr>
        <p:spPr>
          <a:xfrm>
            <a:off x="640080" y="1965960"/>
            <a:ext cx="502560" cy="502560"/>
          </a:xfrm>
          <a:prstGeom prst="ellipse">
            <a:avLst/>
          </a:prstGeom>
          <a:solidFill>
            <a:srgbClr val="0b5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1" name="Text 4"/>
          <p:cNvSpPr/>
          <p:nvPr/>
        </p:nvSpPr>
        <p:spPr>
          <a:xfrm>
            <a:off x="640080" y="196596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2" name="Shape 5"/>
          <p:cNvSpPr/>
          <p:nvPr/>
        </p:nvSpPr>
        <p:spPr>
          <a:xfrm>
            <a:off x="1371600" y="1901880"/>
            <a:ext cx="5120280" cy="621360"/>
          </a:xfrm>
          <a:prstGeom prst="roundRect">
            <a:avLst>
              <a:gd name="adj" fmla="val 10294"/>
            </a:avLst>
          </a:prstGeom>
          <a:solidFill>
            <a:srgbClr val="0e1b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3" name="Text 6"/>
          <p:cNvSpPr/>
          <p:nvPr/>
        </p:nvSpPr>
        <p:spPr>
          <a:xfrm>
            <a:off x="1554480" y="1901880"/>
            <a:ext cx="4754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bfe9c9"/>
                </a:solidFill>
                <a:latin typeface="Courier New"/>
                <a:ea typeface="Courier New"/>
              </a:rPr>
              <a:t>sudo insmod myCameraDriver.ko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74" name="Text 7"/>
          <p:cNvSpPr/>
          <p:nvPr/>
        </p:nvSpPr>
        <p:spPr>
          <a:xfrm>
            <a:off x="6720840" y="196596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e2a3a"/>
                </a:solidFill>
                <a:latin typeface="Calibri"/>
                <a:ea typeface="Calibri"/>
              </a:rPr>
              <a:t>Module loads without error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75" name="Shape 8"/>
          <p:cNvSpPr/>
          <p:nvPr/>
        </p:nvSpPr>
        <p:spPr>
          <a:xfrm>
            <a:off x="640080" y="2834640"/>
            <a:ext cx="502560" cy="502560"/>
          </a:xfrm>
          <a:prstGeom prst="ellipse">
            <a:avLst/>
          </a:prstGeom>
          <a:solidFill>
            <a:srgbClr val="0b5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6" name="Text 9"/>
          <p:cNvSpPr/>
          <p:nvPr/>
        </p:nvSpPr>
        <p:spPr>
          <a:xfrm>
            <a:off x="640080" y="283464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77" name="Shape 10"/>
          <p:cNvSpPr/>
          <p:nvPr/>
        </p:nvSpPr>
        <p:spPr>
          <a:xfrm>
            <a:off x="1371600" y="2770560"/>
            <a:ext cx="5120280" cy="621360"/>
          </a:xfrm>
          <a:prstGeom prst="roundRect">
            <a:avLst>
              <a:gd name="adj" fmla="val 10294"/>
            </a:avLst>
          </a:prstGeom>
          <a:solidFill>
            <a:srgbClr val="0e1b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78" name="Text 11"/>
          <p:cNvSpPr/>
          <p:nvPr/>
        </p:nvSpPr>
        <p:spPr>
          <a:xfrm>
            <a:off x="1554480" y="2770560"/>
            <a:ext cx="4754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bfe9c9"/>
                </a:solidFill>
                <a:latin typeface="Courier New"/>
                <a:ea typeface="Courier New"/>
              </a:rPr>
              <a:t>dmesg | grep myCameraDriver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79" name="Text 12"/>
          <p:cNvSpPr/>
          <p:nvPr/>
        </p:nvSpPr>
        <p:spPr>
          <a:xfrm>
            <a:off x="6720840" y="283464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e2a3a"/>
                </a:solidFill>
                <a:latin typeface="Calibri"/>
                <a:ea typeface="Calibri"/>
              </a:rPr>
              <a:t>Confirms probe() actually executed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0" name="Shape 13"/>
          <p:cNvSpPr/>
          <p:nvPr/>
        </p:nvSpPr>
        <p:spPr>
          <a:xfrm>
            <a:off x="640080" y="3703320"/>
            <a:ext cx="502560" cy="502560"/>
          </a:xfrm>
          <a:prstGeom prst="ellipse">
            <a:avLst/>
          </a:prstGeom>
          <a:solidFill>
            <a:srgbClr val="0b5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1" name="Text 14"/>
          <p:cNvSpPr/>
          <p:nvPr/>
        </p:nvSpPr>
        <p:spPr>
          <a:xfrm>
            <a:off x="640080" y="370332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2" name="Shape 15"/>
          <p:cNvSpPr/>
          <p:nvPr/>
        </p:nvSpPr>
        <p:spPr>
          <a:xfrm>
            <a:off x="1371600" y="3639240"/>
            <a:ext cx="5120280" cy="621360"/>
          </a:xfrm>
          <a:prstGeom prst="roundRect">
            <a:avLst>
              <a:gd name="adj" fmla="val 10294"/>
            </a:avLst>
          </a:prstGeom>
          <a:solidFill>
            <a:srgbClr val="0e1b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3" name="Text 16"/>
          <p:cNvSpPr/>
          <p:nvPr/>
        </p:nvSpPr>
        <p:spPr>
          <a:xfrm>
            <a:off x="1554480" y="3639240"/>
            <a:ext cx="4754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bfe9c9"/>
                </a:solidFill>
                <a:latin typeface="Courier New"/>
                <a:ea typeface="Courier New"/>
              </a:rPr>
              <a:t>i2cdetect -y 1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84" name="Text 17"/>
          <p:cNvSpPr/>
          <p:nvPr/>
        </p:nvSpPr>
        <p:spPr>
          <a:xfrm>
            <a:off x="6720840" y="370332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e2a3a"/>
                </a:solidFill>
                <a:latin typeface="Calibri"/>
                <a:ea typeface="Calibri"/>
              </a:rPr>
              <a:t>Sensor address (0x10) responds on the bus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85" name="Shape 18"/>
          <p:cNvSpPr/>
          <p:nvPr/>
        </p:nvSpPr>
        <p:spPr>
          <a:xfrm>
            <a:off x="640080" y="4572000"/>
            <a:ext cx="502560" cy="502560"/>
          </a:xfrm>
          <a:prstGeom prst="ellipse">
            <a:avLst/>
          </a:prstGeom>
          <a:solidFill>
            <a:srgbClr val="0b5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6" name="Text 19"/>
          <p:cNvSpPr/>
          <p:nvPr/>
        </p:nvSpPr>
        <p:spPr>
          <a:xfrm>
            <a:off x="640080" y="457200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87" name="Shape 20"/>
          <p:cNvSpPr/>
          <p:nvPr/>
        </p:nvSpPr>
        <p:spPr>
          <a:xfrm>
            <a:off x="1371600" y="4507920"/>
            <a:ext cx="5120280" cy="621360"/>
          </a:xfrm>
          <a:prstGeom prst="roundRect">
            <a:avLst>
              <a:gd name="adj" fmla="val 10294"/>
            </a:avLst>
          </a:prstGeom>
          <a:solidFill>
            <a:srgbClr val="0e1b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88" name="Text 21"/>
          <p:cNvSpPr/>
          <p:nvPr/>
        </p:nvSpPr>
        <p:spPr>
          <a:xfrm>
            <a:off x="1554480" y="4507920"/>
            <a:ext cx="4754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bfe9c9"/>
                </a:solidFill>
                <a:latin typeface="Courier New"/>
                <a:ea typeface="Courier New"/>
              </a:rPr>
              <a:t>cat /sys/kernel/my_imx219/chip_id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89" name="Text 22"/>
          <p:cNvSpPr/>
          <p:nvPr/>
        </p:nvSpPr>
        <p:spPr>
          <a:xfrm>
            <a:off x="6720840" y="457200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e2a3a"/>
                </a:solidFill>
                <a:latin typeface="Calibri"/>
                <a:ea typeface="Calibri"/>
              </a:rPr>
              <a:t>Returns the expected IMX219 chip ID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0" name="Shape 23"/>
          <p:cNvSpPr/>
          <p:nvPr/>
        </p:nvSpPr>
        <p:spPr>
          <a:xfrm>
            <a:off x="640080" y="5440680"/>
            <a:ext cx="502560" cy="502560"/>
          </a:xfrm>
          <a:prstGeom prst="ellipse">
            <a:avLst/>
          </a:prstGeom>
          <a:solidFill>
            <a:srgbClr val="0b5d75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1" name="Text 24"/>
          <p:cNvSpPr/>
          <p:nvPr/>
        </p:nvSpPr>
        <p:spPr>
          <a:xfrm>
            <a:off x="640080" y="5440680"/>
            <a:ext cx="5025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fffff"/>
                </a:solidFill>
                <a:latin typeface="Cambria"/>
                <a:ea typeface="Cambria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292" name="Shape 25"/>
          <p:cNvSpPr/>
          <p:nvPr/>
        </p:nvSpPr>
        <p:spPr>
          <a:xfrm>
            <a:off x="1371600" y="5376600"/>
            <a:ext cx="5120280" cy="621360"/>
          </a:xfrm>
          <a:prstGeom prst="roundRect">
            <a:avLst>
              <a:gd name="adj" fmla="val 10294"/>
            </a:avLst>
          </a:prstGeom>
          <a:solidFill>
            <a:srgbClr val="0e1b26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93" name="Text 26"/>
          <p:cNvSpPr/>
          <p:nvPr/>
        </p:nvSpPr>
        <p:spPr>
          <a:xfrm>
            <a:off x="1554480" y="5376600"/>
            <a:ext cx="4754520" cy="621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bfe9c9"/>
                </a:solidFill>
                <a:latin typeface="Courier New"/>
                <a:ea typeface="Courier New"/>
              </a:rPr>
              <a:t>ls /dev | grep video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94" name="Text 27"/>
          <p:cNvSpPr/>
          <p:nvPr/>
        </p:nvSpPr>
        <p:spPr>
          <a:xfrm>
            <a:off x="6720840" y="5440680"/>
            <a:ext cx="484596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1e2a3a"/>
                </a:solidFill>
                <a:latin typeface="Calibri"/>
                <a:ea typeface="Calibri"/>
              </a:rPr>
              <a:t>Device node created, if V4L2 is registered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295" name="Text 28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296" name="Text 29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11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Text 0"/>
          <p:cNvSpPr/>
          <p:nvPr/>
        </p:nvSpPr>
        <p:spPr>
          <a:xfrm>
            <a:off x="50292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Calibri"/>
                <a:ea typeface="Calibri"/>
              </a:rPr>
              <a:t>DRIVER INTERNALS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298" name="Text 1"/>
          <p:cNvSpPr/>
          <p:nvPr/>
        </p:nvSpPr>
        <p:spPr>
          <a:xfrm>
            <a:off x="457200" y="658440"/>
            <a:ext cx="1124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b5d75"/>
                </a:solidFill>
                <a:latin typeface="Cambria"/>
                <a:ea typeface="Cambria"/>
              </a:rPr>
              <a:t>What Must Be Wired Correctly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299" name="Text 2"/>
          <p:cNvSpPr/>
          <p:nvPr/>
        </p:nvSpPr>
        <p:spPr>
          <a:xfrm>
            <a:off x="50292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Get these right before any register read will succeed</a:t>
            </a:r>
            <a:endParaRPr b="0" lang="en-IN" sz="1400" spc="-1" strike="noStrike">
              <a:latin typeface="Arial"/>
            </a:endParaRPr>
          </a:p>
        </p:txBody>
      </p:sp>
      <p:graphicFrame>
        <p:nvGraphicFramePr>
          <p:cNvPr id="300" name="Table 0"/>
          <p:cNvGraphicFramePr/>
          <p:nvPr/>
        </p:nvGraphicFramePr>
        <p:xfrm>
          <a:off x="640080" y="1874520"/>
          <a:ext cx="10972440" cy="3968280"/>
        </p:xfrm>
        <a:graphic>
          <a:graphicData uri="http://schemas.openxmlformats.org/drawingml/2006/table">
            <a:tbl>
              <a:tblPr/>
              <a:tblGrid>
                <a:gridCol w="4572000"/>
                <a:gridCol w="6400800"/>
              </a:tblGrid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Parameter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0b5d75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1" lang="en-US" sz="1350" spc="-1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</a:rPr>
                        <a:t>Why It Matters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0b5d75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1e2a3a"/>
                          </a:solidFill>
                          <a:latin typeface="Calibri"/>
                          <a:ea typeface="Calibri"/>
                        </a:rPr>
                        <a:t>I2C Address &amp; Bus Number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1e2a3a"/>
                          </a:solidFill>
                          <a:latin typeface="Calibri"/>
                          <a:ea typeface="Calibri"/>
                        </a:rPr>
                        <a:t>Must match the reg property in the Device Tree exactly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eaf4f7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1e2a3a"/>
                          </a:solidFill>
                          <a:latin typeface="Calibri"/>
                          <a:ea typeface="Calibri"/>
                        </a:rPr>
                        <a:t>Chip ID Registers (0x0000–0x0001)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1e2a3a"/>
                          </a:solidFill>
                          <a:latin typeface="Calibri"/>
                          <a:ea typeface="Calibri"/>
                        </a:rPr>
                        <a:t>First sanity check that probe() can actually talk to the silicon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eaf4f7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1e2a3a"/>
                          </a:solidFill>
                          <a:latin typeface="Calibri"/>
                          <a:ea typeface="Calibri"/>
                        </a:rPr>
                        <a:t>MCLK / Sensor Clock Source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1e2a3a"/>
                          </a:solidFill>
                          <a:latin typeface="Calibri"/>
                          <a:ea typeface="Calibri"/>
                        </a:rPr>
                        <a:t>The IMX219 stays silent until an external clock is supplied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eaf4f7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1e2a3a"/>
                          </a:solidFill>
                          <a:latin typeface="Calibri"/>
                          <a:ea typeface="Calibri"/>
                        </a:rPr>
                        <a:t>Reset &amp; Power-Enable GPIOs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1e2a3a"/>
                          </a:solidFill>
                          <a:latin typeface="Calibri"/>
                          <a:ea typeface="Calibri"/>
                        </a:rPr>
                        <a:t>Sensor remains in reset until these are sequenced in the right order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eaf4f7"/>
                    </a:solidFill>
                  </a:tcPr>
                </a:tc>
              </a:tr>
              <a:tr h="5666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1e2a3a"/>
                          </a:solidFill>
                          <a:latin typeface="Calibri"/>
                          <a:ea typeface="Calibri"/>
                        </a:rPr>
                        <a:t>Regulator / Voltage Rails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1e2a3a"/>
                          </a:solidFill>
                          <a:latin typeface="Calibri"/>
                          <a:ea typeface="Calibri"/>
                        </a:rPr>
                        <a:t>2.8V analog, 1.8V digital, 1.2V I/O — order matters at power-up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eaf4f7"/>
                    </a:solidFill>
                  </a:tcPr>
                </a:tc>
              </a:tr>
              <a:tr h="568440"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1e2a3a"/>
                          </a:solidFill>
                          <a:latin typeface="Calibri"/>
                          <a:ea typeface="Calibri"/>
                        </a:rPr>
                        <a:t>of_match_table Compatible String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eaf4f7"/>
                    </a:solidFill>
                  </a:tcPr>
                </a:tc>
                <a:tc>
                  <a:txBody>
                    <a:bodyPr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  <a:buNone/>
                        <a:tabLst>
                          <a:tab algn="l" pos="0"/>
                        </a:tabLst>
                      </a:pPr>
                      <a:r>
                        <a:rPr b="0" lang="en-US" sz="1350" spc="-1" strike="noStrike">
                          <a:solidFill>
                            <a:srgbClr val="1e2a3a"/>
                          </a:solidFill>
                          <a:latin typeface="Calibri"/>
                          <a:ea typeface="Calibri"/>
                        </a:rPr>
                        <a:t>Determines whether the kernel binds your driver at all</a:t>
                      </a:r>
                      <a:endParaRPr b="0" lang="en-IN" sz="1350" spc="-1" strike="noStrike">
                        <a:latin typeface="Arial"/>
                      </a:endParaRPr>
                    </a:p>
                  </a:txBody>
                  <a:tcPr anchor="ctr" marL="91440" marR="91440">
                    <a:lnL w="9360">
                      <a:solidFill>
                        <a:srgbClr val="dce6ea"/>
                      </a:solidFill>
                    </a:lnL>
                    <a:lnR w="9360">
                      <a:solidFill>
                        <a:srgbClr val="dce6ea"/>
                      </a:solidFill>
                    </a:lnR>
                    <a:lnT w="9360">
                      <a:solidFill>
                        <a:srgbClr val="dce6ea"/>
                      </a:solidFill>
                    </a:lnT>
                    <a:lnB w="9360">
                      <a:solidFill>
                        <a:srgbClr val="dce6ea"/>
                      </a:solidFill>
                    </a:lnB>
                    <a:solidFill>
                      <a:srgbClr val="eaf4f7"/>
                    </a:solidFill>
                  </a:tcPr>
                </a:tc>
              </a:tr>
            </a:tbl>
          </a:graphicData>
        </a:graphic>
      </p:graphicFrame>
      <p:sp>
        <p:nvSpPr>
          <p:cNvPr id="301" name="Text 3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02" name="Text 4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12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Text 0"/>
          <p:cNvSpPr/>
          <p:nvPr/>
        </p:nvSpPr>
        <p:spPr>
          <a:xfrm>
            <a:off x="50292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Calibri"/>
                <a:ea typeface="Calibri"/>
              </a:rPr>
              <a:t>SENSOR CONTROLS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04" name="Text 1"/>
          <p:cNvSpPr/>
          <p:nvPr/>
        </p:nvSpPr>
        <p:spPr>
          <a:xfrm>
            <a:off x="457200" y="658440"/>
            <a:ext cx="1124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b5d75"/>
                </a:solidFill>
                <a:latin typeface="Cambria"/>
                <a:ea typeface="Cambria"/>
              </a:rPr>
              <a:t>Runtime Parameters You Can Modify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305" name="Text 2"/>
          <p:cNvSpPr/>
          <p:nvPr/>
        </p:nvSpPr>
        <p:spPr>
          <a:xfrm>
            <a:off x="50292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What your custom driver can read, write, and expose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06" name="Shape 3"/>
          <p:cNvSpPr/>
          <p:nvPr/>
        </p:nvSpPr>
        <p:spPr>
          <a:xfrm>
            <a:off x="453960" y="1965960"/>
            <a:ext cx="2697120" cy="1874160"/>
          </a:xfrm>
          <a:prstGeom prst="roundRect">
            <a:avLst>
              <a:gd name="adj" fmla="val 4390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07" name="Shape 4"/>
          <p:cNvSpPr/>
          <p:nvPr/>
        </p:nvSpPr>
        <p:spPr>
          <a:xfrm>
            <a:off x="1528560" y="219456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08" name="Image 0" descr="preencoded.png"/>
          <p:cNvPicPr/>
          <p:nvPr/>
        </p:nvPicPr>
        <p:blipFill>
          <a:blip r:embed="rId1"/>
          <a:stretch/>
        </p:blipFill>
        <p:spPr>
          <a:xfrm>
            <a:off x="1610640" y="22770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309" name="Text 5"/>
          <p:cNvSpPr/>
          <p:nvPr/>
        </p:nvSpPr>
        <p:spPr>
          <a:xfrm>
            <a:off x="591120" y="288036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a3a"/>
                </a:solidFill>
                <a:latin typeface="Cambria"/>
                <a:ea typeface="Cambria"/>
              </a:rPr>
              <a:t>Exposure Time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310" name="Text 6"/>
          <p:cNvSpPr/>
          <p:nvPr/>
        </p:nvSpPr>
        <p:spPr>
          <a:xfrm>
            <a:off x="618480" y="3227760"/>
            <a:ext cx="2368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Controls shutter speed — brighter or darker image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1" name="Shape 7"/>
          <p:cNvSpPr/>
          <p:nvPr/>
        </p:nvSpPr>
        <p:spPr>
          <a:xfrm>
            <a:off x="3315960" y="1965960"/>
            <a:ext cx="2697120" cy="1874160"/>
          </a:xfrm>
          <a:prstGeom prst="roundRect">
            <a:avLst>
              <a:gd name="adj" fmla="val 4390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2" name="Shape 8"/>
          <p:cNvSpPr/>
          <p:nvPr/>
        </p:nvSpPr>
        <p:spPr>
          <a:xfrm>
            <a:off x="4390560" y="219456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13" name="Image 1" descr="preencoded.png"/>
          <p:cNvPicPr/>
          <p:nvPr/>
        </p:nvPicPr>
        <p:blipFill>
          <a:blip r:embed="rId2"/>
          <a:stretch/>
        </p:blipFill>
        <p:spPr>
          <a:xfrm>
            <a:off x="4472640" y="22770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314" name="Text 9"/>
          <p:cNvSpPr/>
          <p:nvPr/>
        </p:nvSpPr>
        <p:spPr>
          <a:xfrm>
            <a:off x="3453120" y="288036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a3a"/>
                </a:solidFill>
                <a:latin typeface="Cambria"/>
                <a:ea typeface="Cambria"/>
              </a:rPr>
              <a:t>Analog Gain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315" name="Text 10"/>
          <p:cNvSpPr/>
          <p:nvPr/>
        </p:nvSpPr>
        <p:spPr>
          <a:xfrm>
            <a:off x="3480840" y="3227760"/>
            <a:ext cx="2368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Amplifies the signal at the sensor; more noise at high values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16" name="Shape 11"/>
          <p:cNvSpPr/>
          <p:nvPr/>
        </p:nvSpPr>
        <p:spPr>
          <a:xfrm>
            <a:off x="6178320" y="1965960"/>
            <a:ext cx="2697120" cy="1874160"/>
          </a:xfrm>
          <a:prstGeom prst="roundRect">
            <a:avLst>
              <a:gd name="adj" fmla="val 4390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17" name="Shape 12"/>
          <p:cNvSpPr/>
          <p:nvPr/>
        </p:nvSpPr>
        <p:spPr>
          <a:xfrm>
            <a:off x="7252560" y="219456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18" name="Image 2" descr="preencoded.png"/>
          <p:cNvPicPr/>
          <p:nvPr/>
        </p:nvPicPr>
        <p:blipFill>
          <a:blip r:embed="rId3"/>
          <a:stretch/>
        </p:blipFill>
        <p:spPr>
          <a:xfrm>
            <a:off x="7335000" y="22770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319" name="Text 13"/>
          <p:cNvSpPr/>
          <p:nvPr/>
        </p:nvSpPr>
        <p:spPr>
          <a:xfrm>
            <a:off x="6315480" y="288036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a3a"/>
                </a:solidFill>
                <a:latin typeface="Cambria"/>
                <a:ea typeface="Cambria"/>
              </a:rPr>
              <a:t>Digital Gain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320" name="Text 14"/>
          <p:cNvSpPr/>
          <p:nvPr/>
        </p:nvSpPr>
        <p:spPr>
          <a:xfrm>
            <a:off x="6342840" y="3227760"/>
            <a:ext cx="2368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Additional amplification applied after the ADC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1" name="Shape 15"/>
          <p:cNvSpPr/>
          <p:nvPr/>
        </p:nvSpPr>
        <p:spPr>
          <a:xfrm>
            <a:off x="9040320" y="1965960"/>
            <a:ext cx="2697120" cy="1874160"/>
          </a:xfrm>
          <a:prstGeom prst="roundRect">
            <a:avLst>
              <a:gd name="adj" fmla="val 4390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2" name="Shape 16"/>
          <p:cNvSpPr/>
          <p:nvPr/>
        </p:nvSpPr>
        <p:spPr>
          <a:xfrm>
            <a:off x="10114560" y="219456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23" name="Image 3" descr="preencoded.png"/>
          <p:cNvPicPr/>
          <p:nvPr/>
        </p:nvPicPr>
        <p:blipFill>
          <a:blip r:embed="rId4"/>
          <a:stretch/>
        </p:blipFill>
        <p:spPr>
          <a:xfrm>
            <a:off x="10197000" y="227700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324" name="Text 17"/>
          <p:cNvSpPr/>
          <p:nvPr/>
        </p:nvSpPr>
        <p:spPr>
          <a:xfrm>
            <a:off x="9177480" y="288036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a3a"/>
                </a:solidFill>
                <a:latin typeface="Cambria"/>
                <a:ea typeface="Cambria"/>
              </a:rPr>
              <a:t>Frame &amp; Line Length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325" name="Text 18"/>
          <p:cNvSpPr/>
          <p:nvPr/>
        </p:nvSpPr>
        <p:spPr>
          <a:xfrm>
            <a:off x="9204840" y="3227760"/>
            <a:ext cx="2368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Sets FPS and the maximum allowed exposure time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26" name="Shape 19"/>
          <p:cNvSpPr/>
          <p:nvPr/>
        </p:nvSpPr>
        <p:spPr>
          <a:xfrm>
            <a:off x="453960" y="4069080"/>
            <a:ext cx="2697120" cy="1874160"/>
          </a:xfrm>
          <a:prstGeom prst="roundRect">
            <a:avLst>
              <a:gd name="adj" fmla="val 4390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27" name="Shape 20"/>
          <p:cNvSpPr/>
          <p:nvPr/>
        </p:nvSpPr>
        <p:spPr>
          <a:xfrm>
            <a:off x="1528560" y="429768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28" name="Image 4" descr="preencoded.png"/>
          <p:cNvPicPr/>
          <p:nvPr/>
        </p:nvPicPr>
        <p:blipFill>
          <a:blip r:embed="rId5"/>
          <a:stretch/>
        </p:blipFill>
        <p:spPr>
          <a:xfrm>
            <a:off x="1610640" y="43801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329" name="Text 21"/>
          <p:cNvSpPr/>
          <p:nvPr/>
        </p:nvSpPr>
        <p:spPr>
          <a:xfrm>
            <a:off x="591120" y="498348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a3a"/>
                </a:solidFill>
                <a:latin typeface="Cambria"/>
                <a:ea typeface="Cambria"/>
              </a:rPr>
              <a:t>Resolution &amp; Mode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330" name="Text 22"/>
          <p:cNvSpPr/>
          <p:nvPr/>
        </p:nvSpPr>
        <p:spPr>
          <a:xfrm>
            <a:off x="618480" y="5330880"/>
            <a:ext cx="2368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Switch between 3280×2464, 1920×1080, 1640×1232, etc.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1" name="Shape 23"/>
          <p:cNvSpPr/>
          <p:nvPr/>
        </p:nvSpPr>
        <p:spPr>
          <a:xfrm>
            <a:off x="3315960" y="4069080"/>
            <a:ext cx="2697120" cy="1874160"/>
          </a:xfrm>
          <a:prstGeom prst="roundRect">
            <a:avLst>
              <a:gd name="adj" fmla="val 4390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2" name="Shape 24"/>
          <p:cNvSpPr/>
          <p:nvPr/>
        </p:nvSpPr>
        <p:spPr>
          <a:xfrm>
            <a:off x="4390560" y="429768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33" name="Image 5" descr="preencoded.png"/>
          <p:cNvPicPr/>
          <p:nvPr/>
        </p:nvPicPr>
        <p:blipFill>
          <a:blip r:embed="rId6"/>
          <a:stretch/>
        </p:blipFill>
        <p:spPr>
          <a:xfrm>
            <a:off x="4472640" y="43801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334" name="Text 25"/>
          <p:cNvSpPr/>
          <p:nvPr/>
        </p:nvSpPr>
        <p:spPr>
          <a:xfrm>
            <a:off x="3453120" y="498348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a3a"/>
                </a:solidFill>
                <a:latin typeface="Cambria"/>
                <a:ea typeface="Cambria"/>
              </a:rPr>
              <a:t>Streaming On / Off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335" name="Text 26"/>
          <p:cNvSpPr/>
          <p:nvPr/>
        </p:nvSpPr>
        <p:spPr>
          <a:xfrm>
            <a:off x="3480840" y="5330880"/>
            <a:ext cx="2368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MODE_SELECT register — 0x00 standby, 0x01 streaming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36" name="Shape 27"/>
          <p:cNvSpPr/>
          <p:nvPr/>
        </p:nvSpPr>
        <p:spPr>
          <a:xfrm>
            <a:off x="6178320" y="4069080"/>
            <a:ext cx="2697120" cy="1874160"/>
          </a:xfrm>
          <a:prstGeom prst="roundRect">
            <a:avLst>
              <a:gd name="adj" fmla="val 4390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37" name="Shape 28"/>
          <p:cNvSpPr/>
          <p:nvPr/>
        </p:nvSpPr>
        <p:spPr>
          <a:xfrm>
            <a:off x="7252560" y="429768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38" name="Image 6" descr="preencoded.png"/>
          <p:cNvPicPr/>
          <p:nvPr/>
        </p:nvPicPr>
        <p:blipFill>
          <a:blip r:embed="rId7"/>
          <a:stretch/>
        </p:blipFill>
        <p:spPr>
          <a:xfrm>
            <a:off x="7335000" y="43801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339" name="Text 29"/>
          <p:cNvSpPr/>
          <p:nvPr/>
        </p:nvSpPr>
        <p:spPr>
          <a:xfrm>
            <a:off x="6315480" y="498348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a3a"/>
                </a:solidFill>
                <a:latin typeface="Cambria"/>
                <a:ea typeface="Cambria"/>
              </a:rPr>
              <a:t>Test Pattern Generator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340" name="Text 30"/>
          <p:cNvSpPr/>
          <p:nvPr/>
        </p:nvSpPr>
        <p:spPr>
          <a:xfrm>
            <a:off x="6342840" y="5330880"/>
            <a:ext cx="2368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Color bars or solid colors without a lens — great for debugging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1" name="Shape 31"/>
          <p:cNvSpPr/>
          <p:nvPr/>
        </p:nvSpPr>
        <p:spPr>
          <a:xfrm>
            <a:off x="9040320" y="4069080"/>
            <a:ext cx="2697120" cy="1874160"/>
          </a:xfrm>
          <a:prstGeom prst="roundRect">
            <a:avLst>
              <a:gd name="adj" fmla="val 4390"/>
            </a:avLst>
          </a:prstGeom>
          <a:solidFill>
            <a:srgbClr val="eaf4f7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42" name="Shape 32"/>
          <p:cNvSpPr/>
          <p:nvPr/>
        </p:nvSpPr>
        <p:spPr>
          <a:xfrm>
            <a:off x="10114560" y="4297680"/>
            <a:ext cx="548280" cy="54828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43" name="Image 7" descr="preencoded.png"/>
          <p:cNvPicPr/>
          <p:nvPr/>
        </p:nvPicPr>
        <p:blipFill>
          <a:blip r:embed="rId8"/>
          <a:stretch/>
        </p:blipFill>
        <p:spPr>
          <a:xfrm>
            <a:off x="10197000" y="4380120"/>
            <a:ext cx="383760" cy="383760"/>
          </a:xfrm>
          <a:prstGeom prst="rect">
            <a:avLst/>
          </a:prstGeom>
          <a:ln w="0">
            <a:noFill/>
          </a:ln>
        </p:spPr>
      </p:pic>
      <p:sp>
        <p:nvSpPr>
          <p:cNvPr id="344" name="Text 33"/>
          <p:cNvSpPr/>
          <p:nvPr/>
        </p:nvSpPr>
        <p:spPr>
          <a:xfrm>
            <a:off x="9177480" y="4983480"/>
            <a:ext cx="242280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50" spc="-1" strike="noStrike">
                <a:solidFill>
                  <a:srgbClr val="1e2a3a"/>
                </a:solidFill>
                <a:latin typeface="Cambria"/>
                <a:ea typeface="Cambria"/>
              </a:rPr>
              <a:t>Flip, Crop &amp; Binning</a:t>
            </a:r>
            <a:endParaRPr b="0" lang="en-IN" sz="1350" spc="-1" strike="noStrike">
              <a:latin typeface="Arial"/>
            </a:endParaRPr>
          </a:p>
        </p:txBody>
      </p:sp>
      <p:sp>
        <p:nvSpPr>
          <p:cNvPr id="345" name="Text 34"/>
          <p:cNvSpPr/>
          <p:nvPr/>
        </p:nvSpPr>
        <p:spPr>
          <a:xfrm>
            <a:off x="9204840" y="5330880"/>
            <a:ext cx="2368080" cy="566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64748b"/>
                </a:solidFill>
                <a:latin typeface="Calibri"/>
                <a:ea typeface="Calibri"/>
              </a:rPr>
              <a:t>Mirror the image, crop a window, or combine pixels 2×2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346" name="Text 35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47" name="Text 36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13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Text 0"/>
          <p:cNvSpPr/>
          <p:nvPr/>
        </p:nvSpPr>
        <p:spPr>
          <a:xfrm>
            <a:off x="502920" y="384120"/>
            <a:ext cx="9143640" cy="292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199" strike="noStrike">
                <a:solidFill>
                  <a:srgbClr val="1c7293"/>
                </a:solidFill>
                <a:latin typeface="Calibri"/>
                <a:ea typeface="Calibri"/>
              </a:rPr>
              <a:t>RECOMMENDED PATH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49" name="Text 1"/>
          <p:cNvSpPr/>
          <p:nvPr/>
        </p:nvSpPr>
        <p:spPr>
          <a:xfrm>
            <a:off x="457200" y="658440"/>
            <a:ext cx="112467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000" spc="-1" strike="noStrike">
                <a:solidFill>
                  <a:srgbClr val="0b5d75"/>
                </a:solidFill>
                <a:latin typeface="Cambria"/>
                <a:ea typeface="Cambria"/>
              </a:rPr>
              <a:t>Testing &amp; Validation Flow</a:t>
            </a:r>
            <a:endParaRPr b="0" lang="en-IN" sz="3000" spc="-1" strike="noStrike">
              <a:latin typeface="Arial"/>
            </a:endParaRPr>
          </a:p>
        </p:txBody>
      </p:sp>
      <p:sp>
        <p:nvSpPr>
          <p:cNvPr id="350" name="Text 2"/>
          <p:cNvSpPr/>
          <p:nvPr/>
        </p:nvSpPr>
        <p:spPr>
          <a:xfrm>
            <a:off x="502920" y="1298520"/>
            <a:ext cx="10972440" cy="36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400" spc="-1" strike="noStrike">
                <a:solidFill>
                  <a:srgbClr val="64748b"/>
                </a:solidFill>
                <a:latin typeface="Calibri"/>
                <a:ea typeface="Calibri"/>
              </a:rPr>
              <a:t>Move from raw I2C access to full V4L2 integration one step at a time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51" name="Shape 3"/>
          <p:cNvSpPr/>
          <p:nvPr/>
        </p:nvSpPr>
        <p:spPr>
          <a:xfrm>
            <a:off x="897480" y="2743200"/>
            <a:ext cx="1874160" cy="1737000"/>
          </a:xfrm>
          <a:prstGeom prst="roundRect">
            <a:avLst>
              <a:gd name="adj" fmla="val 4737"/>
            </a:avLst>
          </a:prstGeom>
          <a:solidFill>
            <a:srgbClr val="0b5d7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2" name="Shape 4"/>
          <p:cNvSpPr/>
          <p:nvPr/>
        </p:nvSpPr>
        <p:spPr>
          <a:xfrm>
            <a:off x="1578600" y="2926080"/>
            <a:ext cx="511560" cy="511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3" name="Text 5"/>
          <p:cNvSpPr/>
          <p:nvPr/>
        </p:nvSpPr>
        <p:spPr>
          <a:xfrm>
            <a:off x="1578600" y="2926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b5d75"/>
                </a:solidFill>
                <a:latin typeface="Cambria"/>
                <a:ea typeface="Cambria"/>
              </a:rPr>
              <a:t>1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4" name="Text 6"/>
          <p:cNvSpPr/>
          <p:nvPr/>
        </p:nvSpPr>
        <p:spPr>
          <a:xfrm>
            <a:off x="988920" y="3611880"/>
            <a:ext cx="1691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Read Chip ID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55" name="Text 7"/>
          <p:cNvSpPr/>
          <p:nvPr/>
        </p:nvSpPr>
        <p:spPr>
          <a:xfrm>
            <a:off x="2772000" y="3291840"/>
            <a:ext cx="255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4748b"/>
                </a:solidFill>
                <a:latin typeface="Calibri"/>
              </a:rPr>
              <a:t>&gt;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6" name="Shape 8"/>
          <p:cNvSpPr/>
          <p:nvPr/>
        </p:nvSpPr>
        <p:spPr>
          <a:xfrm>
            <a:off x="3027960" y="2743200"/>
            <a:ext cx="1874160" cy="1737000"/>
          </a:xfrm>
          <a:prstGeom prst="roundRect">
            <a:avLst>
              <a:gd name="adj" fmla="val 4737"/>
            </a:avLst>
          </a:prstGeom>
          <a:solidFill>
            <a:srgbClr val="1c7293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57" name="Shape 9"/>
          <p:cNvSpPr/>
          <p:nvPr/>
        </p:nvSpPr>
        <p:spPr>
          <a:xfrm>
            <a:off x="3709440" y="2926080"/>
            <a:ext cx="511560" cy="511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58" name="Text 10"/>
          <p:cNvSpPr/>
          <p:nvPr/>
        </p:nvSpPr>
        <p:spPr>
          <a:xfrm>
            <a:off x="3709440" y="2926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c7293"/>
                </a:solidFill>
                <a:latin typeface="Cambria"/>
                <a:ea typeface="Cambria"/>
              </a:rPr>
              <a:t>2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59" name="Text 11"/>
          <p:cNvSpPr/>
          <p:nvPr/>
        </p:nvSpPr>
        <p:spPr>
          <a:xfrm>
            <a:off x="3119400" y="3611880"/>
            <a:ext cx="1691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Read / Write a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Test Register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60" name="Text 12"/>
          <p:cNvSpPr/>
          <p:nvPr/>
        </p:nvSpPr>
        <p:spPr>
          <a:xfrm>
            <a:off x="4902480" y="3291840"/>
            <a:ext cx="255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4748b"/>
                </a:solidFill>
                <a:latin typeface="Calibri"/>
              </a:rPr>
              <a:t>&gt;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1" name="Shape 13"/>
          <p:cNvSpPr/>
          <p:nvPr/>
        </p:nvSpPr>
        <p:spPr>
          <a:xfrm>
            <a:off x="5158440" y="2743200"/>
            <a:ext cx="1874160" cy="1737000"/>
          </a:xfrm>
          <a:prstGeom prst="roundRect">
            <a:avLst>
              <a:gd name="adj" fmla="val 4737"/>
            </a:avLst>
          </a:prstGeom>
          <a:solidFill>
            <a:srgbClr val="0b5d75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2" name="Shape 14"/>
          <p:cNvSpPr/>
          <p:nvPr/>
        </p:nvSpPr>
        <p:spPr>
          <a:xfrm>
            <a:off x="5839920" y="2926080"/>
            <a:ext cx="511560" cy="511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3" name="Text 15"/>
          <p:cNvSpPr/>
          <p:nvPr/>
        </p:nvSpPr>
        <p:spPr>
          <a:xfrm>
            <a:off x="5839920" y="2926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0b5d75"/>
                </a:solidFill>
                <a:latin typeface="Cambria"/>
                <a:ea typeface="Cambria"/>
              </a:rPr>
              <a:t>3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4" name="Text 16"/>
          <p:cNvSpPr/>
          <p:nvPr/>
        </p:nvSpPr>
        <p:spPr>
          <a:xfrm>
            <a:off x="5249880" y="3611880"/>
            <a:ext cx="1691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Toggle Streaming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(MODE_SELECT)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65" name="Text 17"/>
          <p:cNvSpPr/>
          <p:nvPr/>
        </p:nvSpPr>
        <p:spPr>
          <a:xfrm>
            <a:off x="7032960" y="3291840"/>
            <a:ext cx="255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4748b"/>
                </a:solidFill>
                <a:latin typeface="Calibri"/>
              </a:rPr>
              <a:t>&gt;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6" name="Shape 18"/>
          <p:cNvSpPr/>
          <p:nvPr/>
        </p:nvSpPr>
        <p:spPr>
          <a:xfrm>
            <a:off x="7289280" y="2743200"/>
            <a:ext cx="1874160" cy="1737000"/>
          </a:xfrm>
          <a:prstGeom prst="roundRect">
            <a:avLst>
              <a:gd name="adj" fmla="val 4737"/>
            </a:avLst>
          </a:prstGeom>
          <a:solidFill>
            <a:srgbClr val="1c7293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67" name="Shape 19"/>
          <p:cNvSpPr/>
          <p:nvPr/>
        </p:nvSpPr>
        <p:spPr>
          <a:xfrm>
            <a:off x="7970400" y="2926080"/>
            <a:ext cx="511560" cy="511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68" name="Text 20"/>
          <p:cNvSpPr/>
          <p:nvPr/>
        </p:nvSpPr>
        <p:spPr>
          <a:xfrm>
            <a:off x="7970400" y="2926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1c7293"/>
                </a:solidFill>
                <a:latin typeface="Cambria"/>
                <a:ea typeface="Cambria"/>
              </a:rPr>
              <a:t>4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69" name="Text 21"/>
          <p:cNvSpPr/>
          <p:nvPr/>
        </p:nvSpPr>
        <p:spPr>
          <a:xfrm>
            <a:off x="7380720" y="3611880"/>
            <a:ext cx="1691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Expose sysfs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Controls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70" name="Text 22"/>
          <p:cNvSpPr/>
          <p:nvPr/>
        </p:nvSpPr>
        <p:spPr>
          <a:xfrm>
            <a:off x="9163800" y="3291840"/>
            <a:ext cx="25560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64748b"/>
                </a:solidFill>
                <a:latin typeface="Calibri"/>
              </a:rPr>
              <a:t>&gt;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1" name="Shape 23"/>
          <p:cNvSpPr/>
          <p:nvPr/>
        </p:nvSpPr>
        <p:spPr>
          <a:xfrm>
            <a:off x="9419760" y="2743200"/>
            <a:ext cx="1874160" cy="1737000"/>
          </a:xfrm>
          <a:prstGeom prst="roundRect">
            <a:avLst>
              <a:gd name="adj" fmla="val 4737"/>
            </a:avLst>
          </a:prstGeom>
          <a:solidFill>
            <a:srgbClr val="2e9e6b"/>
          </a:solidFill>
          <a:ln w="0">
            <a:noFill/>
          </a:ln>
          <a:effectLst>
            <a:outerShdw algn="bl" blurRad="101520" dir="5400000" dist="38160" kx="0" ky="0" rotWithShape="0" sx="100000" sy="100000">
              <a:srgbClr val="1b2a3a">
                <a:alpha val="16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372" name="Shape 24"/>
          <p:cNvSpPr/>
          <p:nvPr/>
        </p:nvSpPr>
        <p:spPr>
          <a:xfrm>
            <a:off x="10100880" y="2926080"/>
            <a:ext cx="511560" cy="511560"/>
          </a:xfrm>
          <a:prstGeom prst="ellipse">
            <a:avLst/>
          </a:prstGeom>
          <a:solidFill>
            <a:srgbClr val="fffff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3" name="Text 25"/>
          <p:cNvSpPr/>
          <p:nvPr/>
        </p:nvSpPr>
        <p:spPr>
          <a:xfrm>
            <a:off x="10100880" y="2926080"/>
            <a:ext cx="511560" cy="51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2e9e6b"/>
                </a:solidFill>
                <a:latin typeface="Cambria"/>
                <a:ea typeface="Cambria"/>
              </a:rPr>
              <a:t>5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374" name="Text 26"/>
          <p:cNvSpPr/>
          <p:nvPr/>
        </p:nvSpPr>
        <p:spPr>
          <a:xfrm>
            <a:off x="9511200" y="3611880"/>
            <a:ext cx="169128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Migrate to V4L2</a:t>
            </a:r>
            <a:endParaRPr b="0" lang="en-IN" sz="1250" spc="-1" strike="noStrike">
              <a:latin typeface="Arial"/>
            </a:endParaRPr>
          </a:p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50" spc="-1" strike="noStrike">
                <a:solidFill>
                  <a:srgbClr val="ffffff"/>
                </a:solidFill>
                <a:latin typeface="Calibri"/>
                <a:ea typeface="Calibri"/>
              </a:rPr>
              <a:t>Subdev</a:t>
            </a:r>
            <a:endParaRPr b="0" lang="en-IN" sz="1250" spc="-1" strike="noStrike">
              <a:latin typeface="Arial"/>
            </a:endParaRPr>
          </a:p>
        </p:txBody>
      </p:sp>
      <p:sp>
        <p:nvSpPr>
          <p:cNvPr id="375" name="Text 27"/>
          <p:cNvSpPr/>
          <p:nvPr/>
        </p:nvSpPr>
        <p:spPr>
          <a:xfrm>
            <a:off x="640080" y="4983480"/>
            <a:ext cx="10881000" cy="456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300" spc="-1" strike="noStrike">
                <a:solidFill>
                  <a:srgbClr val="64748b"/>
                </a:solidFill>
                <a:latin typeface="Calibri"/>
                <a:ea typeface="Calibri"/>
              </a:rPr>
              <a:t>Each step should fully succeed before moving to the next — skipping ahead makes failures much harder to diagnose.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76" name="Text 28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77" name="Text 29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64748b"/>
                </a:solidFill>
                <a:latin typeface="Calibri"/>
                <a:ea typeface="Calibri"/>
              </a:rPr>
              <a:t>14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024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Shape 0"/>
          <p:cNvSpPr/>
          <p:nvPr/>
        </p:nvSpPr>
        <p:spPr>
          <a:xfrm>
            <a:off x="-1828800" y="4389120"/>
            <a:ext cx="5486040" cy="5486040"/>
          </a:xfrm>
          <a:prstGeom prst="ellipse">
            <a:avLst/>
          </a:prstGeom>
          <a:solidFill>
            <a:srgbClr val="163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79" name="Text 1"/>
          <p:cNvSpPr/>
          <p:nvPr/>
        </p:nvSpPr>
        <p:spPr>
          <a:xfrm>
            <a:off x="548640" y="502920"/>
            <a:ext cx="457164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300" spc="199" strike="noStrike">
                <a:solidFill>
                  <a:srgbClr val="6fb8cf"/>
                </a:solidFill>
                <a:latin typeface="Calibri"/>
                <a:ea typeface="Calibri"/>
              </a:rPr>
              <a:t>CLOSING</a:t>
            </a:r>
            <a:endParaRPr b="0" lang="en-IN" sz="1300" spc="-1" strike="noStrike">
              <a:latin typeface="Arial"/>
            </a:endParaRPr>
          </a:p>
        </p:txBody>
      </p:sp>
      <p:sp>
        <p:nvSpPr>
          <p:cNvPr id="380" name="Text 2"/>
          <p:cNvSpPr/>
          <p:nvPr/>
        </p:nvSpPr>
        <p:spPr>
          <a:xfrm>
            <a:off x="502920" y="804600"/>
            <a:ext cx="91436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fffff"/>
                </a:solidFill>
                <a:latin typeface="Cambria"/>
                <a:ea typeface="Cambria"/>
              </a:rPr>
              <a:t>Key Takeaways</a:t>
            </a:r>
            <a:endParaRPr b="0" lang="en-IN" sz="3200" spc="-1" strike="noStrike">
              <a:latin typeface="Arial"/>
            </a:endParaRPr>
          </a:p>
        </p:txBody>
      </p:sp>
      <p:sp>
        <p:nvSpPr>
          <p:cNvPr id="381" name="Shape 3"/>
          <p:cNvSpPr/>
          <p:nvPr/>
        </p:nvSpPr>
        <p:spPr>
          <a:xfrm>
            <a:off x="594360" y="1828800"/>
            <a:ext cx="456840" cy="456840"/>
          </a:xfrm>
          <a:prstGeom prst="ellipse">
            <a:avLst/>
          </a:prstGeom>
          <a:solidFill>
            <a:srgbClr val="1a3a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82" name="Image 0" descr="preencoded.png"/>
          <p:cNvPicPr/>
          <p:nvPr/>
        </p:nvPicPr>
        <p:blipFill>
          <a:blip r:embed="rId1"/>
          <a:stretch/>
        </p:blipFill>
        <p:spPr>
          <a:xfrm>
            <a:off x="653760" y="188820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383" name="Text 4"/>
          <p:cNvSpPr/>
          <p:nvPr/>
        </p:nvSpPr>
        <p:spPr>
          <a:xfrm>
            <a:off x="1280160" y="178308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e4eef2"/>
                </a:solidFill>
                <a:latin typeface="Calibri"/>
                <a:ea typeface="Calibri"/>
              </a:rPr>
              <a:t>Driver binding is decided by Device Tree matching — not by which module loads first</a:t>
            </a:r>
            <a:endParaRPr b="0" lang="en-IN" sz="1550" spc="-1" strike="noStrike">
              <a:latin typeface="Arial"/>
            </a:endParaRPr>
          </a:p>
        </p:txBody>
      </p:sp>
      <p:sp>
        <p:nvSpPr>
          <p:cNvPr id="384" name="Shape 5"/>
          <p:cNvSpPr/>
          <p:nvPr/>
        </p:nvSpPr>
        <p:spPr>
          <a:xfrm>
            <a:off x="594360" y="2697480"/>
            <a:ext cx="456840" cy="456840"/>
          </a:xfrm>
          <a:prstGeom prst="ellipse">
            <a:avLst/>
          </a:prstGeom>
          <a:solidFill>
            <a:srgbClr val="1a3a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85" name="Image 1" descr="preencoded.png"/>
          <p:cNvPicPr/>
          <p:nvPr/>
        </p:nvPicPr>
        <p:blipFill>
          <a:blip r:embed="rId2"/>
          <a:stretch/>
        </p:blipFill>
        <p:spPr>
          <a:xfrm>
            <a:off x="653760" y="275688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386" name="Text 6"/>
          <p:cNvSpPr/>
          <p:nvPr/>
        </p:nvSpPr>
        <p:spPr>
          <a:xfrm>
            <a:off x="1280160" y="265176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e4eef2"/>
                </a:solidFill>
                <a:latin typeface="Calibri"/>
                <a:ea typeface="Calibri"/>
              </a:rPr>
              <a:t>Renaming the compatible string is the cleanest, most reliable bypass method</a:t>
            </a:r>
            <a:endParaRPr b="0" lang="en-IN" sz="1550" spc="-1" strike="noStrike">
              <a:latin typeface="Arial"/>
            </a:endParaRPr>
          </a:p>
        </p:txBody>
      </p:sp>
      <p:sp>
        <p:nvSpPr>
          <p:cNvPr id="387" name="Shape 7"/>
          <p:cNvSpPr/>
          <p:nvPr/>
        </p:nvSpPr>
        <p:spPr>
          <a:xfrm>
            <a:off x="594360" y="3566160"/>
            <a:ext cx="456840" cy="456840"/>
          </a:xfrm>
          <a:prstGeom prst="ellipse">
            <a:avLst/>
          </a:prstGeom>
          <a:solidFill>
            <a:srgbClr val="1a3a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88" name="Image 2" descr="preencoded.png"/>
          <p:cNvPicPr/>
          <p:nvPr/>
        </p:nvPicPr>
        <p:blipFill>
          <a:blip r:embed="rId3"/>
          <a:stretch/>
        </p:blipFill>
        <p:spPr>
          <a:xfrm>
            <a:off x="653760" y="362556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389" name="Text 8"/>
          <p:cNvSpPr/>
          <p:nvPr/>
        </p:nvSpPr>
        <p:spPr>
          <a:xfrm>
            <a:off x="1280160" y="352044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e4eef2"/>
                </a:solidFill>
                <a:latin typeface="Calibri"/>
                <a:ea typeface="Calibri"/>
              </a:rPr>
              <a:t>Always verify a chip-ID read and probe() success before touching V4L2 at all</a:t>
            </a:r>
            <a:endParaRPr b="0" lang="en-IN" sz="1550" spc="-1" strike="noStrike">
              <a:latin typeface="Arial"/>
            </a:endParaRPr>
          </a:p>
        </p:txBody>
      </p:sp>
      <p:sp>
        <p:nvSpPr>
          <p:cNvPr id="390" name="Shape 9"/>
          <p:cNvSpPr/>
          <p:nvPr/>
        </p:nvSpPr>
        <p:spPr>
          <a:xfrm>
            <a:off x="594360" y="4434840"/>
            <a:ext cx="456840" cy="456840"/>
          </a:xfrm>
          <a:prstGeom prst="ellipse">
            <a:avLst/>
          </a:prstGeom>
          <a:solidFill>
            <a:srgbClr val="1a3a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91" name="Image 3" descr="preencoded.png"/>
          <p:cNvPicPr/>
          <p:nvPr/>
        </p:nvPicPr>
        <p:blipFill>
          <a:blip r:embed="rId4"/>
          <a:stretch/>
        </p:blipFill>
        <p:spPr>
          <a:xfrm>
            <a:off x="653760" y="4494240"/>
            <a:ext cx="338040" cy="338040"/>
          </a:xfrm>
          <a:prstGeom prst="rect">
            <a:avLst/>
          </a:prstGeom>
          <a:ln w="0">
            <a:noFill/>
          </a:ln>
        </p:spPr>
      </p:pic>
      <p:sp>
        <p:nvSpPr>
          <p:cNvPr id="392" name="Text 10"/>
          <p:cNvSpPr/>
          <p:nvPr/>
        </p:nvSpPr>
        <p:spPr>
          <a:xfrm>
            <a:off x="1280160" y="4389120"/>
            <a:ext cx="1005804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50" spc="-1" strike="noStrike">
                <a:solidFill>
                  <a:srgbClr val="e4eef2"/>
                </a:solidFill>
                <a:latin typeface="Calibri"/>
                <a:ea typeface="Calibri"/>
              </a:rPr>
              <a:t>Build incrementally: raw I2C access → sysfs controls → full V4L2 subdev driver</a:t>
            </a:r>
            <a:endParaRPr b="0" lang="en-IN" sz="1550" spc="-1" strike="noStrike">
              <a:latin typeface="Arial"/>
            </a:endParaRPr>
          </a:p>
        </p:txBody>
      </p:sp>
      <p:sp>
        <p:nvSpPr>
          <p:cNvPr id="393" name="Shape 11"/>
          <p:cNvSpPr/>
          <p:nvPr/>
        </p:nvSpPr>
        <p:spPr>
          <a:xfrm>
            <a:off x="548640" y="5532120"/>
            <a:ext cx="11063880" cy="685440"/>
          </a:xfrm>
          <a:prstGeom prst="roundRect">
            <a:avLst>
              <a:gd name="adj" fmla="val 10667"/>
            </a:avLst>
          </a:prstGeom>
          <a:solidFill>
            <a:srgbClr val="16314d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394" name="Shape 12"/>
          <p:cNvSpPr/>
          <p:nvPr/>
        </p:nvSpPr>
        <p:spPr>
          <a:xfrm>
            <a:off x="713160" y="5632560"/>
            <a:ext cx="475200" cy="475200"/>
          </a:xfrm>
          <a:prstGeom prst="ellipse">
            <a:avLst/>
          </a:prstGeom>
          <a:solidFill>
            <a:srgbClr val="1c7293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395" name="Image 4" descr="preencoded.png"/>
          <p:cNvPicPr/>
          <p:nvPr/>
        </p:nvPicPr>
        <p:blipFill>
          <a:blip r:embed="rId5"/>
          <a:stretch/>
        </p:blipFill>
        <p:spPr>
          <a:xfrm>
            <a:off x="779760" y="5699160"/>
            <a:ext cx="342000" cy="342000"/>
          </a:xfrm>
          <a:prstGeom prst="rect">
            <a:avLst/>
          </a:prstGeom>
          <a:ln w="0">
            <a:noFill/>
          </a:ln>
        </p:spPr>
      </p:pic>
      <p:sp>
        <p:nvSpPr>
          <p:cNvPr id="396" name="Text 13"/>
          <p:cNvSpPr/>
          <p:nvPr/>
        </p:nvSpPr>
        <p:spPr>
          <a:xfrm>
            <a:off x="1371600" y="5532120"/>
            <a:ext cx="100580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fffff"/>
                </a:solidFill>
                <a:latin typeface="Calibri"/>
                <a:ea typeface="Calibri"/>
              </a:rPr>
              <a:t>Next Step: Integrate into the V4L2 Subdev &amp; Media Controller Framework</a:t>
            </a:r>
            <a:endParaRPr b="0" lang="en-IN" sz="1400" spc="-1" strike="noStrike">
              <a:latin typeface="Arial"/>
            </a:endParaRPr>
          </a:p>
        </p:txBody>
      </p:sp>
      <p:sp>
        <p:nvSpPr>
          <p:cNvPr id="397" name="Text 14"/>
          <p:cNvSpPr/>
          <p:nvPr/>
        </p:nvSpPr>
        <p:spPr>
          <a:xfrm>
            <a:off x="457200" y="6519600"/>
            <a:ext cx="548604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900" spc="-1" strike="noStrike">
                <a:solidFill>
                  <a:srgbClr val="8fb4c9"/>
                </a:solidFill>
                <a:latin typeface="Calibri"/>
                <a:ea typeface="Calibri"/>
              </a:rPr>
              <a:t>IMX219 Custom Driver Bring-Up</a:t>
            </a:r>
            <a:endParaRPr b="0" lang="en-IN" sz="900" spc="-1" strike="noStrike">
              <a:latin typeface="Arial"/>
            </a:endParaRPr>
          </a:p>
        </p:txBody>
      </p:sp>
      <p:sp>
        <p:nvSpPr>
          <p:cNvPr id="398" name="Text 15"/>
          <p:cNvSpPr/>
          <p:nvPr/>
        </p:nvSpPr>
        <p:spPr>
          <a:xfrm>
            <a:off x="11003040" y="6519600"/>
            <a:ext cx="7311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900" spc="-1" strike="noStrike">
                <a:solidFill>
                  <a:srgbClr val="8fb4c9"/>
                </a:solidFill>
                <a:latin typeface="Calibri"/>
                <a:ea typeface="Calibri"/>
              </a:rPr>
              <a:t>15 / 15</a:t>
            </a:r>
            <a:endParaRPr b="0" lang="en-IN" sz="9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2026-06-18T04:58:40Z</dcterms:created>
  <dc:creator>Karthikeya Dokku</dc:creator>
  <dc:description/>
  <dc:language>en-IN</dc:language>
  <cp:lastModifiedBy/>
  <dcterms:modified xsi:type="dcterms:W3CDTF">2026-06-18T10:34:13Z</dcterms:modified>
  <cp:revision>2</cp:revision>
  <dc:subject>PptxGenJS Presentation</dc:subject>
  <dc:title>Custom IMX219 Camera Driver on Raspberry Pi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15</vt:i4>
  </property>
  <property fmtid="{D5CDD505-2E9C-101B-9397-08002B2CF9AE}" pid="3" name="PresentationFormat">
    <vt:lpwstr>On-screen Show (16:9)</vt:lpwstr>
  </property>
  <property fmtid="{D5CDD505-2E9C-101B-9397-08002B2CF9AE}" pid="4" name="Slides">
    <vt:i4>15</vt:i4>
  </property>
</Properties>
</file>